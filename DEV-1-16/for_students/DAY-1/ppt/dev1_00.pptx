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63" r:id="rId2"/>
    <p:sldId id="502" r:id="rId3"/>
    <p:sldId id="501" r:id="rId4"/>
    <p:sldId id="507" r:id="rId5"/>
    <p:sldId id="514" r:id="rId6"/>
    <p:sldId id="506" r:id="rId7"/>
    <p:sldId id="257" r:id="rId8"/>
    <p:sldId id="508" r:id="rId9"/>
    <p:sldId id="510" r:id="rId10"/>
    <p:sldId id="511" r:id="rId11"/>
    <p:sldId id="512" r:id="rId12"/>
    <p:sldId id="513" r:id="rId13"/>
    <p:sldId id="509" r:id="rId14"/>
    <p:sldId id="504" r:id="rId15"/>
    <p:sldId id="516" r:id="rId16"/>
    <p:sldId id="258" r:id="rId17"/>
    <p:sldId id="515" r:id="rId18"/>
    <p:sldId id="259" r:id="rId19"/>
    <p:sldId id="260" r:id="rId20"/>
    <p:sldId id="261" r:id="rId21"/>
    <p:sldId id="262" r:id="rId22"/>
    <p:sldId id="505" r:id="rId23"/>
    <p:sldId id="264" r:id="rId24"/>
    <p:sldId id="265" r:id="rId25"/>
    <p:sldId id="266" r:id="rId26"/>
  </p:sldIdLst>
  <p:sldSz cx="9144000" cy="5143500" type="screen16x9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00"/>
    <a:srgbClr val="000099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730" autoAdjust="0"/>
  </p:normalViewPr>
  <p:slideViewPr>
    <p:cSldViewPr snapToGrid="0">
      <p:cViewPr varScale="1">
        <p:scale>
          <a:sx n="132" d="100"/>
          <a:sy n="132" d="100"/>
        </p:scale>
        <p:origin x="12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6A0595-55A8-48ED-89D9-94EF8A794717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0CE960-5D9D-430C-9D09-6E77992381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6177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628560" y="1369080"/>
            <a:ext cx="7886520" cy="3263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7886520" cy="3263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3848400" cy="3263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69920" y="1369080"/>
            <a:ext cx="3848400" cy="3263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628560" y="273960"/>
            <a:ext cx="7886520" cy="4608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384840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69920" y="1369080"/>
            <a:ext cx="3848400" cy="3263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628560" y="3073680"/>
            <a:ext cx="384840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3848400" cy="3263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69920" y="1369080"/>
            <a:ext cx="384840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669920" y="3073680"/>
            <a:ext cx="384840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384840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69920" y="1369080"/>
            <a:ext cx="384840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628560" y="3073680"/>
            <a:ext cx="788652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788652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628560" y="3073680"/>
            <a:ext cx="788652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384840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69920" y="1369080"/>
            <a:ext cx="384840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28560" y="3073680"/>
            <a:ext cx="384840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669920" y="3073680"/>
            <a:ext cx="384840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253908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3295080" y="1369080"/>
            <a:ext cx="253908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5961240" y="1369080"/>
            <a:ext cx="253908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628560" y="3073680"/>
            <a:ext cx="253908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body"/>
          </p:nvPr>
        </p:nvSpPr>
        <p:spPr>
          <a:xfrm>
            <a:off x="3295080" y="3073680"/>
            <a:ext cx="253908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body"/>
          </p:nvPr>
        </p:nvSpPr>
        <p:spPr>
          <a:xfrm>
            <a:off x="5961240" y="3073680"/>
            <a:ext cx="2539080" cy="155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quarter" idx="11"/>
          </p:nvPr>
        </p:nvSpPr>
        <p:spPr>
          <a:xfrm>
            <a:off x="484188" y="1213247"/>
            <a:ext cx="8229600" cy="33750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2"/>
          </p:nvPr>
        </p:nvSpPr>
        <p:spPr>
          <a:xfrm>
            <a:off x="3132000" y="4798556"/>
            <a:ext cx="2880000" cy="270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Нижний колонтитул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58254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1FF6B9-6C7F-4C1B-8747-C0E19B7B7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2570718-41B5-48DC-8312-8489EE4DF0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5B52F1-46A2-46BB-936E-89C2BF931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198FDE-1923-462C-9DED-45DD19A56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C2C86E-E221-42EE-B1FF-D007F0DD1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1874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ru-RU" sz="3300" b="0" strike="noStrike" spc="-1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lang="ru-RU" sz="33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7886520" cy="3263040"/>
          </a:xfrm>
          <a:prstGeom prst="rect">
            <a:avLst/>
          </a:prstGeom>
        </p:spPr>
        <p:txBody>
          <a:bodyPr>
            <a:noAutofit/>
          </a:bodyPr>
          <a:lstStyle/>
          <a:p>
            <a:pPr marL="171360" indent="-1710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100" b="0" strike="noStrike" spc="-1">
                <a:solidFill>
                  <a:srgbClr val="000000"/>
                </a:solidFill>
                <a:latin typeface="Calibri"/>
              </a:rPr>
              <a:t>Образец текста</a:t>
            </a:r>
          </a:p>
          <a:p>
            <a:pPr marL="514440" lvl="1" indent="-1710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Второй уровень</a:t>
            </a:r>
          </a:p>
          <a:p>
            <a:pPr marL="857160" lvl="2" indent="-1710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500" b="0" strike="noStrike" spc="-1">
                <a:solidFill>
                  <a:srgbClr val="000000"/>
                </a:solidFill>
                <a:latin typeface="Calibri"/>
              </a:rPr>
              <a:t>Третий уровень</a:t>
            </a:r>
          </a:p>
          <a:p>
            <a:pPr marL="1200240" lvl="3" indent="-1710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350" b="0" strike="noStrike" spc="-1">
                <a:solidFill>
                  <a:srgbClr val="000000"/>
                </a:solidFill>
                <a:latin typeface="Calibri"/>
              </a:rPr>
              <a:t>Четвертый уровень</a:t>
            </a:r>
          </a:p>
          <a:p>
            <a:pPr marL="1542960" lvl="4" indent="-1710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350" b="0" strike="noStrike" spc="-1">
                <a:solidFill>
                  <a:srgbClr val="000000"/>
                </a:solidFill>
                <a:latin typeface="Calibri"/>
              </a:rPr>
              <a:t>Пятый уровень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ru-RU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ru-RU" sz="24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05EF2BE1-C6B1-44D9-AC14-847FE245C45E}" type="slidenum">
              <a:rPr lang="en-US" sz="9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ru-RU" sz="900" b="0" strike="noStrike" spc="-1">
              <a:latin typeface="Times New Roman"/>
            </a:endParaRPr>
          </a:p>
        </p:txBody>
      </p:sp>
      <p:sp>
        <p:nvSpPr>
          <p:cNvPr id="5" name="CustomShape 6"/>
          <p:cNvSpPr/>
          <p:nvPr/>
        </p:nvSpPr>
        <p:spPr>
          <a:xfrm>
            <a:off x="7131240" y="4137840"/>
            <a:ext cx="1726560" cy="766080"/>
          </a:xfrm>
          <a:custGeom>
            <a:avLst/>
            <a:gdLst/>
            <a:ahLst/>
            <a:cxnLst/>
            <a:rect l="l" t="t" r="r" b="b"/>
            <a:pathLst>
              <a:path w="3983913" h="1593565">
                <a:moveTo>
                  <a:pt x="0" y="0"/>
                </a:moveTo>
                <a:lnTo>
                  <a:pt x="3983912" y="0"/>
                </a:lnTo>
                <a:lnTo>
                  <a:pt x="3983912" y="1593565"/>
                </a:lnTo>
                <a:lnTo>
                  <a:pt x="0" y="159356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6"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CustomShape 7"/>
          <p:cNvSpPr/>
          <p:nvPr/>
        </p:nvSpPr>
        <p:spPr>
          <a:xfrm rot="19974000">
            <a:off x="5218560" y="-2323800"/>
            <a:ext cx="4931640" cy="4028040"/>
          </a:xfrm>
          <a:custGeom>
            <a:avLst/>
            <a:gdLst/>
            <a:ahLst/>
            <a:cxnLst/>
            <a:rect l="l" t="t" r="r" b="b"/>
            <a:pathLst>
              <a:path w="9495369" h="7717145">
                <a:moveTo>
                  <a:pt x="0" y="0"/>
                </a:moveTo>
                <a:lnTo>
                  <a:pt x="9495369" y="0"/>
                </a:lnTo>
                <a:lnTo>
                  <a:pt x="9495369" y="7717145"/>
                </a:lnTo>
                <a:lnTo>
                  <a:pt x="0" y="771714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7">
              <a:alphaModFix amt="50000"/>
            </a:blip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4" r:id="rId13"/>
    <p:sldLayoutId id="2147483676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FFFFFF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E66A48D-163B-A54A-E70E-AF9BF3D7CCD0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95300" y="2179545"/>
            <a:ext cx="7886520" cy="993960"/>
          </a:xfrm>
        </p:spPr>
        <p:txBody>
          <a:bodyPr/>
          <a:lstStyle/>
          <a:p>
            <a:pPr algn="ctr"/>
            <a:br>
              <a:rPr lang="ru-RU" b="1" dirty="0"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r>
              <a:rPr lang="ru-RU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Разработка серверной части приложений </a:t>
            </a:r>
            <a:r>
              <a:rPr lang="ru-RU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PostgreSQL</a:t>
            </a:r>
            <a:r>
              <a:rPr lang="ru-RU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16</a:t>
            </a:r>
            <a:endParaRPr lang="en-US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6 BT" panose="02040804060705020204" pitchFamily="18" charset="0"/>
                <a:cs typeface="Segoe UI Light" panose="020B0502040204020203" pitchFamily="34" charset="0"/>
              </a:rPr>
              <a:t>(dev-1)</a:t>
            </a:r>
          </a:p>
        </p:txBody>
      </p:sp>
      <p:pic>
        <p:nvPicPr>
          <p:cNvPr id="1026" name="Picture 2" descr="https://avatars.mds.yandex.net/i?id=6d149088086246972def0787c29b2c99ca2e0b99-4903276-images-thumbs&amp;n=13">
            <a:extLst>
              <a:ext uri="{FF2B5EF4-FFF2-40B4-BE49-F238E27FC236}">
                <a16:creationId xmlns:a16="http://schemas.microsoft.com/office/drawing/2014/main" id="{03698AE0-4B56-44A2-B54C-E0F1338D7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630" y="125505"/>
            <a:ext cx="1663379" cy="1579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5975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204;p32">
            <a:extLst>
              <a:ext uri="{FF2B5EF4-FFF2-40B4-BE49-F238E27FC236}">
                <a16:creationId xmlns:a16="http://schemas.microsoft.com/office/drawing/2014/main" id="{6FECBBB2-6E89-4343-9F12-27706CBB9B22}"/>
              </a:ext>
            </a:extLst>
          </p:cNvPr>
          <p:cNvSpPr txBox="1">
            <a:spLocks/>
          </p:cNvSpPr>
          <p:nvPr/>
        </p:nvSpPr>
        <p:spPr>
          <a:xfrm>
            <a:off x="10894740" y="5317831"/>
            <a:ext cx="7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>
            <a:defPPr>
              <a:defRPr lang="en-US"/>
            </a:defPPr>
            <a:lvl1pPr marL="0" marR="0" lvl="0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kern="120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kern="120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kern="120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kern="120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kern="120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kern="120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kern="120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kern="120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kern="120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fld id="{00000000-1234-1234-1234-123412341234}" type="slidenum">
              <a:rPr kumimoji="0" lang="ru" sz="1467" b="0" i="0" u="none" strike="noStrike" kern="0" cap="none" spc="0" normalizeH="0" baseline="0" noProof="0" smtClean="0">
                <a:ln>
                  <a:noFill/>
                </a:ln>
                <a:solidFill>
                  <a:srgbClr val="004777"/>
                </a:solidFill>
                <a:effectLst/>
                <a:uLnTx/>
                <a:uFillTx/>
                <a:sym typeface="Open San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t>2</a:t>
            </a:fld>
            <a:endParaRPr kumimoji="0" lang="ru" sz="1467" b="0" i="0" u="none" strike="noStrike" kern="0" cap="none" spc="0" normalizeH="0" baseline="0" noProof="0">
              <a:ln>
                <a:noFill/>
              </a:ln>
              <a:solidFill>
                <a:srgbClr val="004777"/>
              </a:solidFill>
              <a:effectLst/>
              <a:uLnTx/>
              <a:uFillTx/>
              <a:sym typeface="Open Sans"/>
            </a:endParaRPr>
          </a:p>
        </p:txBody>
      </p:sp>
      <p:pic>
        <p:nvPicPr>
          <p:cNvPr id="16" name="Picture 2" descr="https://sun1-85.userapi.com/impg/6k5xZ6FQs17OKeDc3H7AFRCK3k4cKl3hb9rhhA/GFRJ-7MW1yw.jpg?size=1200x1200&amp;quality=96&amp;sign=43a0b62f3872c9724496f8ed3a831695&amp;type=album">
            <a:extLst>
              <a:ext uri="{FF2B5EF4-FFF2-40B4-BE49-F238E27FC236}">
                <a16:creationId xmlns:a16="http://schemas.microsoft.com/office/drawing/2014/main" id="{7DF98D01-A6EE-43F5-85AA-752566A997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647" y="309574"/>
            <a:ext cx="2254753" cy="2254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Объект 3">
            <a:extLst>
              <a:ext uri="{FF2B5EF4-FFF2-40B4-BE49-F238E27FC236}">
                <a16:creationId xmlns:a16="http://schemas.microsoft.com/office/drawing/2014/main" id="{86D4FF60-8D43-41A0-91C5-7B66B35A6F89}"/>
              </a:ext>
            </a:extLst>
          </p:cNvPr>
          <p:cNvSpPr txBox="1">
            <a:spLocks/>
          </p:cNvSpPr>
          <p:nvPr/>
        </p:nvSpPr>
        <p:spPr>
          <a:xfrm>
            <a:off x="2648234" y="284914"/>
            <a:ext cx="5941785" cy="2323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Open Sans"/>
              <a:buChar char="•"/>
              <a:defRPr sz="15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Open Sans"/>
              <a:buChar char="•"/>
              <a:defRPr sz="12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pen Sans"/>
              <a:buChar char="•"/>
              <a:defRPr sz="11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pen Sans"/>
              <a:buChar char="•"/>
              <a:defRPr sz="11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pen Sans"/>
              <a:buChar char="•"/>
              <a:defRPr sz="11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609585" indent="-474121" defTabSz="1219170">
              <a:spcBef>
                <a:spcPts val="1067"/>
              </a:spcBef>
              <a:buSzPct val="130000"/>
              <a:buFont typeface="Open Sans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ru-RU" sz="1600" kern="0" dirty="0">
                <a:solidFill>
                  <a:schemeClr val="accent1">
                    <a:lumMod val="50000"/>
                  </a:schemeClr>
                </a:solidFill>
                <a:latin typeface="Yandex Sans Text Light" panose="02000000000000000000" pitchFamily="2" charset="-52"/>
                <a:ea typeface="Open Sans" pitchFamily="2" charset="0"/>
                <a:cs typeface="Open Sans" pitchFamily="2" charset="0"/>
              </a:rPr>
              <a:t>Бэкенд-разработчик </a:t>
            </a:r>
            <a:r>
              <a:rPr lang="en-US" sz="1600" kern="0" dirty="0">
                <a:solidFill>
                  <a:schemeClr val="accent1">
                    <a:lumMod val="50000"/>
                  </a:schemeClr>
                </a:solidFill>
                <a:latin typeface="Yandex Sans Text Light" panose="02000000000000000000" pitchFamily="2" charset="-52"/>
                <a:ea typeface="Open Sans" pitchFamily="2" charset="0"/>
                <a:cs typeface="Open Sans" pitchFamily="2" charset="0"/>
              </a:rPr>
              <a:t>(Django, </a:t>
            </a:r>
            <a:r>
              <a:rPr lang="en-US" sz="1600" kern="0" dirty="0" err="1">
                <a:solidFill>
                  <a:schemeClr val="accent1">
                    <a:lumMod val="50000"/>
                  </a:schemeClr>
                </a:solidFill>
                <a:latin typeface="Yandex Sans Text Light" panose="02000000000000000000" pitchFamily="2" charset="-52"/>
                <a:ea typeface="Open Sans" pitchFamily="2" charset="0"/>
                <a:cs typeface="Open Sans" pitchFamily="2" charset="0"/>
              </a:rPr>
              <a:t>Fastapi</a:t>
            </a:r>
            <a:r>
              <a:rPr lang="en-US" sz="1600" kern="0" dirty="0">
                <a:solidFill>
                  <a:schemeClr val="accent1">
                    <a:lumMod val="50000"/>
                  </a:schemeClr>
                </a:solidFill>
                <a:latin typeface="Yandex Sans Text Light" panose="02000000000000000000" pitchFamily="2" charset="-52"/>
                <a:ea typeface="Open Sans" pitchFamily="2" charset="0"/>
                <a:cs typeface="Open Sans" pitchFamily="2" charset="0"/>
              </a:rPr>
              <a:t>, </a:t>
            </a:r>
            <a:r>
              <a:rPr lang="en-US" sz="1600" kern="0" dirty="0" err="1">
                <a:solidFill>
                  <a:schemeClr val="accent1">
                    <a:lumMod val="50000"/>
                  </a:schemeClr>
                </a:solidFill>
                <a:latin typeface="Yandex Sans Text Light" panose="02000000000000000000" pitchFamily="2" charset="-52"/>
                <a:ea typeface="Open Sans" pitchFamily="2" charset="0"/>
                <a:cs typeface="Open Sans" pitchFamily="2" charset="0"/>
              </a:rPr>
              <a:t>Postgresql</a:t>
            </a:r>
            <a:r>
              <a:rPr lang="en-US" sz="1600" kern="0" dirty="0">
                <a:solidFill>
                  <a:schemeClr val="accent1">
                    <a:lumMod val="50000"/>
                  </a:schemeClr>
                </a:solidFill>
                <a:latin typeface="Yandex Sans Text Light" panose="02000000000000000000" pitchFamily="2" charset="-52"/>
                <a:ea typeface="Open Sans" pitchFamily="2" charset="0"/>
                <a:cs typeface="Open Sans" pitchFamily="2" charset="0"/>
              </a:rPr>
              <a:t>, </a:t>
            </a:r>
            <a:r>
              <a:rPr lang="en-US" sz="1600" kern="0" dirty="0" err="1">
                <a:solidFill>
                  <a:schemeClr val="accent1">
                    <a:lumMod val="50000"/>
                  </a:schemeClr>
                </a:solidFill>
                <a:latin typeface="Yandex Sans Text Light" panose="02000000000000000000" pitchFamily="2" charset="-52"/>
                <a:ea typeface="Open Sans" pitchFamily="2" charset="0"/>
                <a:cs typeface="Open Sans" pitchFamily="2" charset="0"/>
              </a:rPr>
              <a:t>Nosql</a:t>
            </a:r>
            <a:r>
              <a:rPr lang="en-US" sz="1600" kern="0" dirty="0">
                <a:solidFill>
                  <a:schemeClr val="accent1">
                    <a:lumMod val="50000"/>
                  </a:schemeClr>
                </a:solidFill>
                <a:latin typeface="Yandex Sans Text Light" panose="02000000000000000000" pitchFamily="2" charset="-52"/>
                <a:ea typeface="Open Sans" pitchFamily="2" charset="0"/>
                <a:cs typeface="Open Sans" pitchFamily="2" charset="0"/>
              </a:rPr>
              <a:t>)</a:t>
            </a:r>
          </a:p>
          <a:p>
            <a:pPr marL="609585" indent="-474121" defTabSz="1219170">
              <a:spcBef>
                <a:spcPts val="1067"/>
              </a:spcBef>
              <a:buSzPct val="130000"/>
              <a:buFont typeface="Open Sans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ru-RU" sz="1600" kern="0" dirty="0">
                <a:solidFill>
                  <a:schemeClr val="accent1">
                    <a:lumMod val="50000"/>
                  </a:schemeClr>
                </a:solidFill>
                <a:latin typeface="Yandex Sans Text Light" panose="02000000000000000000" pitchFamily="2" charset="-52"/>
                <a:ea typeface="Open Sans" pitchFamily="2" charset="0"/>
                <a:cs typeface="Open Sans" pitchFamily="2" charset="0"/>
              </a:rPr>
              <a:t>Кандидат технических наук,</a:t>
            </a:r>
            <a:endParaRPr lang="en-US" sz="1600" kern="0" dirty="0">
              <a:solidFill>
                <a:schemeClr val="accent1">
                  <a:lumMod val="50000"/>
                </a:schemeClr>
              </a:solidFill>
              <a:latin typeface="Yandex Sans Text Light" panose="02000000000000000000" pitchFamily="2" charset="-52"/>
              <a:ea typeface="Open Sans" pitchFamily="2" charset="0"/>
              <a:cs typeface="Open Sans" pitchFamily="2" charset="0"/>
            </a:endParaRPr>
          </a:p>
          <a:p>
            <a:pPr marL="609585" indent="-474121" defTabSz="1219170">
              <a:spcBef>
                <a:spcPts val="1067"/>
              </a:spcBef>
              <a:buSzPct val="130000"/>
              <a:buFont typeface="Open Sans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ru-RU" sz="1600" kern="0" dirty="0">
                <a:solidFill>
                  <a:schemeClr val="accent1">
                    <a:lumMod val="50000"/>
                  </a:schemeClr>
                </a:solidFill>
                <a:latin typeface="Yandex Sans Text Light" panose="02000000000000000000" pitchFamily="2" charset="-52"/>
                <a:ea typeface="Open Sans" pitchFamily="2" charset="0"/>
                <a:cs typeface="Open Sans" pitchFamily="2" charset="0"/>
              </a:rPr>
              <a:t>доцент РТУ МИРЭА</a:t>
            </a:r>
            <a:r>
              <a:rPr lang="en-US" sz="1600" kern="0" dirty="0">
                <a:solidFill>
                  <a:schemeClr val="accent1">
                    <a:lumMod val="50000"/>
                  </a:schemeClr>
                </a:solidFill>
                <a:latin typeface="Yandex Sans Text Light" panose="02000000000000000000" pitchFamily="2" charset="-52"/>
                <a:ea typeface="Open Sans" pitchFamily="2" charset="0"/>
                <a:cs typeface="Open Sans" pitchFamily="2" charset="0"/>
              </a:rPr>
              <a:t>, </a:t>
            </a:r>
            <a:r>
              <a:rPr lang="ru-RU" sz="1600" kern="0" dirty="0">
                <a:solidFill>
                  <a:schemeClr val="accent1">
                    <a:lumMod val="50000"/>
                  </a:schemeClr>
                </a:solidFill>
                <a:latin typeface="Yandex Sans Text Light" panose="02000000000000000000" pitchFamily="2" charset="-52"/>
                <a:ea typeface="Open Sans" pitchFamily="2" charset="0"/>
                <a:cs typeface="Open Sans" pitchFamily="2" charset="0"/>
              </a:rPr>
              <a:t>Политех, Бауманский учебный центр Специалист</a:t>
            </a:r>
            <a:endParaRPr lang="ru-RU" sz="1600" kern="0" dirty="0">
              <a:solidFill>
                <a:srgbClr val="C00000"/>
              </a:solidFill>
              <a:latin typeface="Yandex Sans Text Light" panose="02000000000000000000" pitchFamily="2" charset="-52"/>
              <a:ea typeface="Open Sans" pitchFamily="2" charset="0"/>
              <a:cs typeface="Open Sans" pitchFamily="2" charset="0"/>
            </a:endParaRPr>
          </a:p>
          <a:p>
            <a:pPr marL="135463" indent="0" defTabSz="1219170">
              <a:spcBef>
                <a:spcPts val="1067"/>
              </a:spcBef>
              <a:buSzPct val="130000"/>
              <a:buFont typeface="Open Sans"/>
              <a:buNone/>
            </a:pPr>
            <a:endParaRPr lang="ru-RU" sz="1600" kern="0" dirty="0">
              <a:solidFill>
                <a:srgbClr val="05386C"/>
              </a:solidFill>
              <a:latin typeface="Yandex Sans Text Light" panose="02000000000000000000" pitchFamily="2" charset="-52"/>
              <a:ea typeface="Open Sans" pitchFamily="2" charset="0"/>
              <a:cs typeface="Open Sans" pitchFamily="2" charset="0"/>
            </a:endParaRPr>
          </a:p>
          <a:p>
            <a:pPr marL="609585" indent="-474121" defTabSz="1219170">
              <a:spcBef>
                <a:spcPts val="1067"/>
              </a:spcBef>
              <a:buSzPct val="130000"/>
              <a:buFont typeface="Open Sans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endParaRPr lang="ru-RU" sz="1600" kern="0" dirty="0">
              <a:latin typeface="Yandex Sans Text Light" panose="02000000000000000000" pitchFamily="2" charset="-52"/>
              <a:ea typeface="Open Sans" pitchFamily="2" charset="0"/>
              <a:cs typeface="Open Sans" pitchFamily="2" charset="0"/>
            </a:endParaRPr>
          </a:p>
          <a:p>
            <a:pPr marL="0" indent="0" defTabSz="1219170">
              <a:spcBef>
                <a:spcPts val="1067"/>
              </a:spcBef>
              <a:buFont typeface="Open Sans"/>
              <a:buNone/>
            </a:pPr>
            <a:endParaRPr lang="ru-RU" sz="1600" kern="0" dirty="0">
              <a:latin typeface="Yandex Sans Text Light" panose="02000000000000000000" pitchFamily="2" charset="-52"/>
            </a:endParaRPr>
          </a:p>
          <a:p>
            <a:pPr marL="609585" indent="-474121" defTabSz="1219170">
              <a:spcBef>
                <a:spcPts val="1067"/>
              </a:spcBef>
            </a:pPr>
            <a:endParaRPr lang="ru-RU" sz="1600" kern="0" dirty="0">
              <a:latin typeface="Yandex Sans Text Light" panose="02000000000000000000" pitchFamily="2" charset="-52"/>
            </a:endParaRPr>
          </a:p>
        </p:txBody>
      </p:sp>
      <p:pic>
        <p:nvPicPr>
          <p:cNvPr id="18" name="Picture 6" descr="Qotto Logo">
            <a:extLst>
              <a:ext uri="{FF2B5EF4-FFF2-40B4-BE49-F238E27FC236}">
                <a16:creationId xmlns:a16="http://schemas.microsoft.com/office/drawing/2014/main" id="{3AA5E54A-290B-4CEE-A0F4-5ECDB74F6B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418" b="10617"/>
          <a:stretch/>
        </p:blipFill>
        <p:spPr bwMode="auto">
          <a:xfrm>
            <a:off x="320731" y="2972212"/>
            <a:ext cx="841320" cy="1034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62401D22-73D4-45CD-B33F-2FCD8CF8F2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8754" y="3772128"/>
            <a:ext cx="746343" cy="731416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BE5C12E4-D02A-41FA-8A3E-C320DC59CD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7486" y="3698532"/>
            <a:ext cx="744221" cy="744221"/>
          </a:xfrm>
          <a:prstGeom prst="rect">
            <a:avLst/>
          </a:prstGeom>
        </p:spPr>
      </p:pic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7C7ABA7B-0BBA-46E4-ABEB-C39D550C4753}"/>
              </a:ext>
            </a:extLst>
          </p:cNvPr>
          <p:cNvSpPr/>
          <p:nvPr/>
        </p:nvSpPr>
        <p:spPr>
          <a:xfrm>
            <a:off x="1396588" y="3244138"/>
            <a:ext cx="3604013" cy="379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ru-RU" sz="1867" kern="0" dirty="0">
                <a:solidFill>
                  <a:srgbClr val="05386C"/>
                </a:solidFill>
                <a:cs typeface="Arial"/>
                <a:sym typeface="Arial"/>
              </a:rPr>
              <a:t>https://vektor-vremeni.ru/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6E21A123-2FFB-484B-8978-DA30A67A567D}"/>
              </a:ext>
            </a:extLst>
          </p:cNvPr>
          <p:cNvSpPr/>
          <p:nvPr/>
        </p:nvSpPr>
        <p:spPr>
          <a:xfrm>
            <a:off x="3386763" y="4517492"/>
            <a:ext cx="3003812" cy="379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ru-RU" sz="1867" kern="0" dirty="0">
                <a:solidFill>
                  <a:srgbClr val="05386C"/>
                </a:solidFill>
                <a:cs typeface="Arial"/>
                <a:sym typeface="Arial"/>
              </a:rPr>
              <a:t>https://cyberneticum.ru/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558D7E06-DA6C-42F8-8554-0E582D60E545}"/>
              </a:ext>
            </a:extLst>
          </p:cNvPr>
          <p:cNvSpPr/>
          <p:nvPr/>
        </p:nvSpPr>
        <p:spPr>
          <a:xfrm>
            <a:off x="-26190" y="4137836"/>
            <a:ext cx="2674425" cy="379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ru-RU" sz="1867" kern="0" dirty="0">
                <a:solidFill>
                  <a:srgbClr val="05386C"/>
                </a:solidFill>
                <a:cs typeface="Arial"/>
                <a:sym typeface="Arial"/>
              </a:rPr>
              <a:t>https://www.qotto.net/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3A36C075-FE89-495F-A89F-D14B67F92C8E}"/>
              </a:ext>
            </a:extLst>
          </p:cNvPr>
          <p:cNvSpPr/>
          <p:nvPr/>
        </p:nvSpPr>
        <p:spPr>
          <a:xfrm>
            <a:off x="5578714" y="3110014"/>
            <a:ext cx="3244555" cy="379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US" sz="1867" kern="0" dirty="0">
                <a:solidFill>
                  <a:srgbClr val="05386C"/>
                </a:solidFill>
                <a:cs typeface="Arial"/>
                <a:sym typeface="Arial"/>
              </a:rPr>
              <a:t>https://neuronis.ru/</a:t>
            </a:r>
            <a:endParaRPr lang="ru-RU" sz="1867" kern="0" dirty="0">
              <a:solidFill>
                <a:srgbClr val="05386C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7468EE8D-B06B-4A86-B4E6-DB3B5472DE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79267" y="3802343"/>
            <a:ext cx="873033" cy="864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924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latin typeface="Segoe UI Light" panose="020B0502040204020203" pitchFamily="34" charset="0"/>
                <a:cs typeface="Segoe UI Light" panose="020B0502040204020203" pitchFamily="34" charset="0"/>
              </a:rPr>
              <a:t>Организационные </a:t>
            </a:r>
            <a:b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r>
              <a:rPr lang="ru-RU" dirty="0">
                <a:latin typeface="Segoe UI Light" panose="020B0502040204020203" pitchFamily="34" charset="0"/>
                <a:cs typeface="Segoe UI Light" panose="020B0502040204020203" pitchFamily="34" charset="0"/>
              </a:rPr>
              <a:t>моменты</a:t>
            </a:r>
          </a:p>
        </p:txBody>
      </p:sp>
      <p:sp>
        <p:nvSpPr>
          <p:cNvPr id="3" name="Объект 2"/>
          <p:cNvSpPr>
            <a:spLocks noGrp="1"/>
          </p:cNvSpPr>
          <p:nvPr>
            <p:ph type="subTitle"/>
          </p:nvPr>
        </p:nvSpPr>
        <p:spPr>
          <a:xfrm>
            <a:off x="5029200" y="1374705"/>
            <a:ext cx="6080760" cy="3263040"/>
          </a:xfrm>
        </p:spPr>
        <p:txBody>
          <a:bodyPr numCol="2">
            <a:noAutofit/>
          </a:bodyPr>
          <a:lstStyle/>
          <a:p>
            <a:pPr marL="0" indent="0">
              <a:buNone/>
            </a:pPr>
            <a:r>
              <a:rPr lang="ru-RU" sz="2000" i="1" u="sng" dirty="0">
                <a:latin typeface="Segoe UI Light" panose="020B0502040204020203" pitchFamily="34" charset="0"/>
                <a:cs typeface="Segoe UI Light" panose="020B0502040204020203" pitchFamily="34" charset="0"/>
              </a:rPr>
              <a:t>Правила совместной работы:</a:t>
            </a:r>
            <a:endParaRPr lang="ru-RU" sz="2000" dirty="0">
              <a:solidFill>
                <a:srgbClr val="0070C0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r>
              <a:rPr lang="ru-RU" sz="2000" dirty="0">
                <a:solidFill>
                  <a:srgbClr val="86AA00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 </a:t>
            </a:r>
            <a:r>
              <a:rPr lang="ru-RU" sz="2000" dirty="0">
                <a:solidFill>
                  <a:srgbClr val="2D2D2A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Вопросы преподавателю</a:t>
            </a:r>
            <a:br>
              <a:rPr lang="ru-RU" sz="2000" dirty="0">
                <a:solidFill>
                  <a:srgbClr val="2D2D2A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r>
              <a:rPr lang="ru-RU" sz="2000" dirty="0">
                <a:solidFill>
                  <a:srgbClr val="86AA00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 </a:t>
            </a:r>
            <a:r>
              <a:rPr lang="ru-RU" sz="2000" dirty="0">
                <a:solidFill>
                  <a:srgbClr val="2D2D2A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Правило поднятой руки</a:t>
            </a:r>
            <a:br>
              <a:rPr lang="ru-RU" sz="2000" dirty="0">
                <a:solidFill>
                  <a:srgbClr val="2D2D2A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r>
              <a:rPr lang="ru-RU" sz="2000" dirty="0">
                <a:solidFill>
                  <a:srgbClr val="86AA00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 </a:t>
            </a:r>
            <a:r>
              <a:rPr lang="ru-RU" sz="2000" dirty="0">
                <a:solidFill>
                  <a:srgbClr val="2D2D2A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Уважение к мнению других участников</a:t>
            </a:r>
            <a:br>
              <a:rPr lang="ru-RU" sz="2000" dirty="0">
                <a:solidFill>
                  <a:srgbClr val="2D2D2A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endParaRPr lang="en-US" sz="2000" dirty="0">
              <a:solidFill>
                <a:srgbClr val="2D2D2A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r>
              <a:rPr lang="ru-RU" sz="2000" dirty="0">
                <a:solidFill>
                  <a:srgbClr val="FF0000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 </a:t>
            </a:r>
            <a:r>
              <a:rPr lang="ru-RU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Мобильные телефоны</a:t>
            </a:r>
            <a:br>
              <a:rPr lang="ru-RU" sz="2000" dirty="0">
                <a:solidFill>
                  <a:srgbClr val="2D2D2A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r>
              <a:rPr lang="ru-RU" sz="2000" dirty="0">
                <a:solidFill>
                  <a:srgbClr val="FF0000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 </a:t>
            </a:r>
            <a:r>
              <a:rPr lang="ru-RU" sz="2000" dirty="0">
                <a:solidFill>
                  <a:srgbClr val="2D2D2A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Опоздания</a:t>
            </a:r>
            <a:br>
              <a:rPr lang="ru-RU" sz="2000" dirty="0">
                <a:solidFill>
                  <a:srgbClr val="2D2D2A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r>
              <a:rPr lang="ru-RU" sz="2000" dirty="0">
                <a:solidFill>
                  <a:srgbClr val="FF0000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 </a:t>
            </a:r>
            <a:r>
              <a:rPr lang="ru-RU" sz="2000" dirty="0">
                <a:solidFill>
                  <a:srgbClr val="2D2D2A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Приватные обсуждения</a:t>
            </a:r>
          </a:p>
          <a:p>
            <a:pPr marL="136922" indent="0">
              <a:buNone/>
            </a:pPr>
            <a:endParaRPr lang="ru-RU" sz="2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F7E1ABB-9D45-4065-9DE9-D3FCF076D342}"/>
              </a:ext>
            </a:extLst>
          </p:cNvPr>
          <p:cNvSpPr/>
          <p:nvPr/>
        </p:nvSpPr>
        <p:spPr>
          <a:xfrm>
            <a:off x="628560" y="1802820"/>
            <a:ext cx="3684360" cy="22252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ru-RU" sz="1400" i="1" u="sng" dirty="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Давайте знакомиться</a:t>
            </a:r>
          </a:p>
          <a:p>
            <a:pPr lvl="0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ru-RU" sz="2000" dirty="0">
                <a:solidFill>
                  <a:srgbClr val="2D2D2A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из какой Вы организации</a:t>
            </a:r>
          </a:p>
          <a:p>
            <a:pPr lvl="0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2D2D2A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ru-RU" sz="2000" dirty="0">
                <a:solidFill>
                  <a:srgbClr val="2D2D2A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каков Ваш опыт работы в сфере ИТ</a:t>
            </a:r>
          </a:p>
          <a:p>
            <a:pPr lvl="0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2D2D2A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ru-RU" sz="2000" dirty="0">
                <a:solidFill>
                  <a:srgbClr val="2D2D2A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опыт работы с продуктом, рассматриваемым на курсе</a:t>
            </a:r>
          </a:p>
          <a:p>
            <a:pPr lvl="0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2D2D2A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ru-RU" sz="2000" dirty="0">
                <a:solidFill>
                  <a:srgbClr val="2D2D2A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какие Ваши цели/задачи перед прохождением курса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83297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D0DAEB26-55A7-43E8-9890-9CD4C80EB229}"/>
              </a:ext>
            </a:extLst>
          </p:cNvPr>
          <p:cNvGrpSpPr/>
          <p:nvPr/>
        </p:nvGrpSpPr>
        <p:grpSpPr>
          <a:xfrm>
            <a:off x="52483" y="22860"/>
            <a:ext cx="6823871" cy="5143500"/>
            <a:chOff x="52483" y="22860"/>
            <a:chExt cx="6823871" cy="5143500"/>
          </a:xfrm>
        </p:grpSpPr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D6830452-0358-4C7F-A61E-079E370F1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483" y="22860"/>
              <a:ext cx="6823871" cy="5143500"/>
            </a:xfrm>
            <a:prstGeom prst="rect">
              <a:avLst/>
            </a:prstGeom>
          </p:spPr>
        </p:pic>
        <p:sp>
          <p:nvSpPr>
            <p:cNvPr id="2" name="Прямоугольник 1">
              <a:extLst>
                <a:ext uri="{FF2B5EF4-FFF2-40B4-BE49-F238E27FC236}">
                  <a16:creationId xmlns:a16="http://schemas.microsoft.com/office/drawing/2014/main" id="{5E6FB45B-0EA8-43F1-8F04-7DD6C18841FF}"/>
                </a:ext>
              </a:extLst>
            </p:cNvPr>
            <p:cNvSpPr/>
            <p:nvPr/>
          </p:nvSpPr>
          <p:spPr>
            <a:xfrm flipH="1">
              <a:off x="2560320" y="1104899"/>
              <a:ext cx="106680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3</a:t>
              </a:r>
              <a:endParaRPr lang="ru-RU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14781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B1600FE-E6DC-40B5-A080-104FB6A5165D}"/>
              </a:ext>
            </a:extLst>
          </p:cNvPr>
          <p:cNvSpPr/>
          <p:nvPr/>
        </p:nvSpPr>
        <p:spPr>
          <a:xfrm>
            <a:off x="523147" y="858121"/>
            <a:ext cx="7617571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Курс будет полезен:</a:t>
            </a:r>
          </a:p>
          <a:p>
            <a:endParaRPr lang="ru-RU" sz="20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Разработчикам СУБД </a:t>
            </a:r>
            <a:r>
              <a:rPr lang="ru-RU" sz="20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PostgreSQL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Разработчикам серверной части приложений СУБД </a:t>
            </a:r>
            <a:r>
              <a:rPr lang="ru-RU" sz="20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PostgreSQL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Администраторам СУБД </a:t>
            </a:r>
            <a:r>
              <a:rPr lang="ru-RU" sz="20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PostgreSQL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Разработчикам приложений;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Слушателям, обучающимся по направлению «Системы управления базами данных».</a:t>
            </a:r>
            <a:endParaRPr lang="ru-RU" sz="2000" b="0" i="0" dirty="0">
              <a:solidFill>
                <a:srgbClr val="000000"/>
              </a:solidFill>
              <a:effectLst/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45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8C81448-7F7F-4AA1-9EA5-517C59F71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051" y="0"/>
            <a:ext cx="683790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48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3A29098-1472-4443-AF10-985B6864D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035" y="0"/>
            <a:ext cx="684993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279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91970EC-AF6E-4983-AD5E-353B20DEC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009" y="0"/>
            <a:ext cx="679998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845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D28EC85-4C0C-4A43-A804-D9FF6CB13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043" y="0"/>
            <a:ext cx="683591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871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2649E39-CD40-409B-9500-7EFDD1A19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100" y="0"/>
            <a:ext cx="680580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623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70C68FE-B977-4D3C-BF7D-7BFC35CC4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065" y="0"/>
            <a:ext cx="68098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483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CCE1D7E-F27A-4F0F-A656-B36BEA85A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933" y="0"/>
            <a:ext cx="687413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520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04C9589-CE5D-4881-B830-60A7C73C9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008" y="0"/>
            <a:ext cx="681198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826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75E70F3-EBDF-4FD0-8C25-3E43B3526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0"/>
            <a:ext cx="683535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1837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E277A0EF-4BB0-46B9-ADD7-F1D3069359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5141441"/>
              </p:ext>
            </p:extLst>
          </p:nvPr>
        </p:nvGraphicFramePr>
        <p:xfrm>
          <a:off x="370114" y="1124493"/>
          <a:ext cx="8302171" cy="3482404"/>
        </p:xfrm>
        <a:graphic>
          <a:graphicData uri="http://schemas.openxmlformats.org/drawingml/2006/table">
            <a:tbl>
              <a:tblPr/>
              <a:tblGrid>
                <a:gridCol w="1584729">
                  <a:extLst>
                    <a:ext uri="{9D8B030D-6E8A-4147-A177-3AD203B41FA5}">
                      <a16:colId xmlns:a16="http://schemas.microsoft.com/office/drawing/2014/main" val="2631200093"/>
                    </a:ext>
                  </a:extLst>
                </a:gridCol>
                <a:gridCol w="2001003">
                  <a:extLst>
                    <a:ext uri="{9D8B030D-6E8A-4147-A177-3AD203B41FA5}">
                      <a16:colId xmlns:a16="http://schemas.microsoft.com/office/drawing/2014/main" val="3327276249"/>
                    </a:ext>
                  </a:extLst>
                </a:gridCol>
                <a:gridCol w="1812227">
                  <a:extLst>
                    <a:ext uri="{9D8B030D-6E8A-4147-A177-3AD203B41FA5}">
                      <a16:colId xmlns:a16="http://schemas.microsoft.com/office/drawing/2014/main" val="3537933714"/>
                    </a:ext>
                  </a:extLst>
                </a:gridCol>
                <a:gridCol w="2904212">
                  <a:extLst>
                    <a:ext uri="{9D8B030D-6E8A-4147-A177-3AD203B41FA5}">
                      <a16:colId xmlns:a16="http://schemas.microsoft.com/office/drawing/2014/main" val="126285442"/>
                    </a:ext>
                  </a:extLst>
                </a:gridCol>
              </a:tblGrid>
              <a:tr h="590702"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Хранилище</a:t>
                      </a:r>
                    </a:p>
                  </a:txBody>
                  <a:tcPr marL="8059" marR="8059" marT="80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Записей/сек</a:t>
                      </a:r>
                    </a:p>
                  </a:txBody>
                  <a:tcPr marL="8059" marR="8059" marT="80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Задержка</a:t>
                      </a:r>
                    </a:p>
                  </a:txBody>
                  <a:tcPr marL="8059" marR="8059" marT="80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Особенности</a:t>
                      </a:r>
                    </a:p>
                  </a:txBody>
                  <a:tcPr marL="8059" marR="8059" marT="80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835477"/>
                  </a:ext>
                </a:extLst>
              </a:tr>
              <a:tr h="585319">
                <a:tc>
                  <a:txBody>
                    <a:bodyPr/>
                    <a:lstStyle/>
                    <a:p>
                      <a:pPr algn="ctr" fontAlgn="b">
                        <a:spcAft>
                          <a:spcPts val="60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99"/>
                          </a:solidFill>
                          <a:effectLst/>
                          <a:latin typeface="Calibri" panose="020F0502020204030204" pitchFamily="34" charset="0"/>
                        </a:rPr>
                        <a:t>PostgreSQL</a:t>
                      </a:r>
                    </a:p>
                  </a:txBody>
                  <a:tcPr marL="8059" marR="8059" marT="80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600"/>
                        </a:spcAft>
                      </a:pPr>
                      <a:r>
                        <a:rPr lang="ru-RU" sz="1600" b="0" i="0" u="none" strike="noStrike" dirty="0">
                          <a:solidFill>
                            <a:srgbClr val="000099"/>
                          </a:solidFill>
                          <a:effectLst/>
                          <a:latin typeface="Calibri" panose="020F0502020204030204" pitchFamily="34" charset="0"/>
                        </a:rPr>
                        <a:t>5,000 – 15,000</a:t>
                      </a:r>
                    </a:p>
                  </a:txBody>
                  <a:tcPr marL="8059" marR="8059" marT="80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600"/>
                        </a:spcAft>
                      </a:pPr>
                      <a:r>
                        <a:rPr lang="ru-RU" sz="1800" b="0" i="0" u="none" strike="noStrike">
                          <a:solidFill>
                            <a:srgbClr val="000099"/>
                          </a:solidFill>
                          <a:effectLst/>
                          <a:latin typeface="Calibri" panose="020F0502020204030204" pitchFamily="34" charset="0"/>
                        </a:rPr>
                        <a:t>10–50 мс</a:t>
                      </a:r>
                    </a:p>
                  </a:txBody>
                  <a:tcPr marL="8059" marR="8059" marT="80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600"/>
                        </a:spcAft>
                      </a:pPr>
                      <a:r>
                        <a:rPr lang="en-US" sz="1600" b="0" i="0" u="none" strike="noStrike" dirty="0">
                          <a:solidFill>
                            <a:srgbClr val="000099"/>
                          </a:solidFill>
                          <a:effectLst/>
                          <a:latin typeface="Calibri" panose="020F0502020204030204" pitchFamily="34" charset="0"/>
                        </a:rPr>
                        <a:t>ACID, </a:t>
                      </a:r>
                      <a:r>
                        <a:rPr lang="ru-RU" sz="1600" b="0" i="0" u="none" strike="noStrike" dirty="0">
                          <a:solidFill>
                            <a:srgbClr val="000099"/>
                          </a:solidFill>
                          <a:effectLst/>
                          <a:latin typeface="Calibri" panose="020F0502020204030204" pitchFamily="34" charset="0"/>
                        </a:rPr>
                        <a:t>индексы, блокировки</a:t>
                      </a:r>
                    </a:p>
                  </a:txBody>
                  <a:tcPr marL="8059" marR="8059" marT="80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8093318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 fontAlgn="b">
                        <a:spcAft>
                          <a:spcPts val="60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99"/>
                          </a:solidFill>
                          <a:effectLst/>
                          <a:latin typeface="Calibri" panose="020F0502020204030204" pitchFamily="34" charset="0"/>
                        </a:rPr>
                        <a:t>MySQL</a:t>
                      </a:r>
                    </a:p>
                  </a:txBody>
                  <a:tcPr marL="8059" marR="8059" marT="80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600"/>
                        </a:spcAft>
                      </a:pPr>
                      <a:r>
                        <a:rPr lang="ru-RU" sz="1600" b="0" i="0" u="none" strike="noStrike" dirty="0">
                          <a:solidFill>
                            <a:srgbClr val="000099"/>
                          </a:solidFill>
                          <a:effectLst/>
                          <a:latin typeface="Calibri" panose="020F0502020204030204" pitchFamily="34" charset="0"/>
                        </a:rPr>
                        <a:t>10,000 – 20,000</a:t>
                      </a:r>
                    </a:p>
                  </a:txBody>
                  <a:tcPr marL="8059" marR="8059" marT="80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600"/>
                        </a:spcAft>
                      </a:pPr>
                      <a:r>
                        <a:rPr lang="ru-RU" sz="1800" b="0" i="0" u="none" strike="noStrike" dirty="0">
                          <a:solidFill>
                            <a:srgbClr val="000099"/>
                          </a:solidFill>
                          <a:effectLst/>
                          <a:latin typeface="Calibri" panose="020F0502020204030204" pitchFamily="34" charset="0"/>
                        </a:rPr>
                        <a:t>5–30 </a:t>
                      </a:r>
                      <a:r>
                        <a:rPr lang="ru-RU" sz="1800" b="0" i="0" u="none" strike="noStrike" dirty="0" err="1">
                          <a:solidFill>
                            <a:srgbClr val="000099"/>
                          </a:solidFill>
                          <a:effectLst/>
                          <a:latin typeface="Calibri" panose="020F0502020204030204" pitchFamily="34" charset="0"/>
                        </a:rPr>
                        <a:t>мс</a:t>
                      </a:r>
                      <a:endParaRPr lang="ru-RU" sz="1800" b="0" i="0" u="none" strike="noStrike" dirty="0">
                        <a:solidFill>
                          <a:srgbClr val="0000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9" marR="8059" marT="80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600"/>
                        </a:spcAft>
                      </a:pPr>
                      <a:r>
                        <a:rPr lang="ru-RU" sz="1600" b="0" i="0" u="none" strike="noStrike" dirty="0">
                          <a:solidFill>
                            <a:srgbClr val="000099"/>
                          </a:solidFill>
                          <a:effectLst/>
                          <a:latin typeface="Calibri" panose="020F0502020204030204" pitchFamily="34" charset="0"/>
                        </a:rPr>
                        <a:t>Быстрее на простых запросах</a:t>
                      </a:r>
                    </a:p>
                  </a:txBody>
                  <a:tcPr marL="8059" marR="8059" marT="80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8265353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algn="ctr" fontAlgn="b">
                        <a:spcAft>
                          <a:spcPts val="60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99"/>
                          </a:solidFill>
                          <a:effectLst/>
                          <a:latin typeface="Calibri" panose="020F0502020204030204" pitchFamily="34" charset="0"/>
                        </a:rPr>
                        <a:t>MS SQL</a:t>
                      </a:r>
                    </a:p>
                  </a:txBody>
                  <a:tcPr marL="8059" marR="8059" marT="80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600"/>
                        </a:spcAft>
                      </a:pPr>
                      <a:r>
                        <a:rPr lang="ru-RU" sz="1600" b="0" i="0" u="none" strike="noStrike" dirty="0">
                          <a:solidFill>
                            <a:srgbClr val="000099"/>
                          </a:solidFill>
                          <a:effectLst/>
                          <a:latin typeface="Calibri" panose="020F0502020204030204" pitchFamily="34" charset="0"/>
                        </a:rPr>
                        <a:t>8,000 – 18,000</a:t>
                      </a:r>
                    </a:p>
                  </a:txBody>
                  <a:tcPr marL="8059" marR="8059" marT="80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600"/>
                        </a:spcAft>
                      </a:pPr>
                      <a:r>
                        <a:rPr lang="ru-RU" sz="1800" b="0" i="0" u="none" strike="noStrike" dirty="0">
                          <a:solidFill>
                            <a:srgbClr val="000099"/>
                          </a:solidFill>
                          <a:effectLst/>
                          <a:latin typeface="Calibri" panose="020F0502020204030204" pitchFamily="34" charset="0"/>
                        </a:rPr>
                        <a:t>8–40 </a:t>
                      </a:r>
                      <a:r>
                        <a:rPr lang="ru-RU" sz="1800" b="0" i="0" u="none" strike="noStrike" dirty="0" err="1">
                          <a:solidFill>
                            <a:srgbClr val="000099"/>
                          </a:solidFill>
                          <a:effectLst/>
                          <a:latin typeface="Calibri" panose="020F0502020204030204" pitchFamily="34" charset="0"/>
                        </a:rPr>
                        <a:t>мс</a:t>
                      </a:r>
                      <a:endParaRPr lang="ru-RU" sz="1800" b="0" i="0" u="none" strike="noStrike" dirty="0">
                        <a:solidFill>
                          <a:srgbClr val="0000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9" marR="8059" marT="80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600"/>
                        </a:spcAft>
                      </a:pPr>
                      <a:r>
                        <a:rPr lang="ru-RU" sz="1600" b="0" i="0" u="none" strike="noStrike" dirty="0">
                          <a:solidFill>
                            <a:srgbClr val="000099"/>
                          </a:solidFill>
                          <a:effectLst/>
                          <a:latin typeface="Calibri" panose="020F0502020204030204" pitchFamily="34" charset="0"/>
                        </a:rPr>
                        <a:t>Оптимизирован под </a:t>
                      </a:r>
                      <a:r>
                        <a:rPr lang="en-US" sz="1600" b="0" i="0" u="none" strike="noStrike" dirty="0">
                          <a:solidFill>
                            <a:srgbClr val="000099"/>
                          </a:solidFill>
                          <a:effectLst/>
                          <a:latin typeface="Calibri" panose="020F0502020204030204" pitchFamily="34" charset="0"/>
                        </a:rPr>
                        <a:t>Windows</a:t>
                      </a:r>
                    </a:p>
                  </a:txBody>
                  <a:tcPr marL="8059" marR="8059" marT="80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2731321"/>
                  </a:ext>
                </a:extLst>
              </a:tr>
              <a:tr h="323579">
                <a:tc>
                  <a:txBody>
                    <a:bodyPr/>
                    <a:lstStyle/>
                    <a:p>
                      <a:pPr algn="ctr" fontAlgn="b">
                        <a:spcAft>
                          <a:spcPts val="60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MongoDB</a:t>
                      </a:r>
                    </a:p>
                  </a:txBody>
                  <a:tcPr marL="8059" marR="8059" marT="80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600"/>
                        </a:spcAft>
                      </a:pPr>
                      <a:r>
                        <a:rPr lang="ru-RU" sz="1600" b="0" i="0" u="none" strike="noStrike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20,000 – 50,000</a:t>
                      </a:r>
                    </a:p>
                  </a:txBody>
                  <a:tcPr marL="8059" marR="8059" marT="80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600"/>
                        </a:spcAft>
                      </a:pPr>
                      <a:r>
                        <a:rPr lang="ru-RU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2–10 </a:t>
                      </a:r>
                      <a:r>
                        <a:rPr lang="ru-RU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мс</a:t>
                      </a:r>
                      <a:endParaRPr lang="ru-RU" sz="1800" b="0" i="0" u="none" strike="noStrike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9" marR="8059" marT="80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600"/>
                        </a:spcAft>
                      </a:pPr>
                      <a:r>
                        <a:rPr lang="en-US" sz="1600" b="0" i="0" u="none" strike="noStrike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NoSQL, </a:t>
                      </a:r>
                      <a:r>
                        <a:rPr lang="ru-RU" sz="1600" b="0" i="0" u="none" strike="noStrike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без схемы</a:t>
                      </a:r>
                    </a:p>
                  </a:txBody>
                  <a:tcPr marL="8059" marR="8059" marT="80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4631487"/>
                  </a:ext>
                </a:extLst>
              </a:tr>
              <a:tr h="169231">
                <a:tc>
                  <a:txBody>
                    <a:bodyPr/>
                    <a:lstStyle/>
                    <a:p>
                      <a:pPr algn="ctr" fontAlgn="b">
                        <a:spcAft>
                          <a:spcPts val="60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JSON </a:t>
                      </a:r>
                      <a:r>
                        <a:rPr lang="ru-RU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файлы</a:t>
                      </a:r>
                    </a:p>
                  </a:txBody>
                  <a:tcPr marL="8059" marR="8059" marT="80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600"/>
                        </a:spcAft>
                      </a:pPr>
                      <a:r>
                        <a:rPr lang="ru-RU" sz="1600" b="0" i="0" u="none" strike="noStrike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50,000 – 100,000</a:t>
                      </a:r>
                    </a:p>
                  </a:txBody>
                  <a:tcPr marL="8059" marR="8059" marT="80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600"/>
                        </a:spcAft>
                      </a:pPr>
                      <a:r>
                        <a:rPr lang="ru-RU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1–5 </a:t>
                      </a:r>
                      <a:r>
                        <a:rPr lang="ru-RU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мс</a:t>
                      </a:r>
                      <a:endParaRPr lang="ru-RU" sz="1800" b="0" i="0" u="none" strike="noStrike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9" marR="8059" marT="80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600"/>
                        </a:spcAft>
                      </a:pPr>
                      <a:r>
                        <a:rPr lang="ru-RU" sz="1600" b="0" i="0" u="none" strike="noStrike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Без гарантий, риск потери данных</a:t>
                      </a:r>
                    </a:p>
                  </a:txBody>
                  <a:tcPr marL="8059" marR="8059" marT="80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8158464"/>
                  </a:ext>
                </a:extLst>
              </a:tr>
              <a:tr h="317510">
                <a:tc>
                  <a:txBody>
                    <a:bodyPr/>
                    <a:lstStyle/>
                    <a:p>
                      <a:pPr algn="ctr" fontAlgn="b">
                        <a:spcAft>
                          <a:spcPts val="60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993300"/>
                          </a:solidFill>
                          <a:effectLst/>
                          <a:latin typeface="Calibri" panose="020F0502020204030204" pitchFamily="34" charset="0"/>
                        </a:rPr>
                        <a:t>Redis</a:t>
                      </a:r>
                    </a:p>
                  </a:txBody>
                  <a:tcPr marL="8059" marR="8059" marT="80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600"/>
                        </a:spcAft>
                      </a:pPr>
                      <a:r>
                        <a:rPr lang="ru-RU" sz="1600" b="0" i="0" u="none" strike="noStrike" dirty="0">
                          <a:solidFill>
                            <a:srgbClr val="993300"/>
                          </a:solidFill>
                          <a:effectLst/>
                          <a:latin typeface="Calibri" panose="020F0502020204030204" pitchFamily="34" charset="0"/>
                        </a:rPr>
                        <a:t>100,000 – 1,000,000+</a:t>
                      </a:r>
                    </a:p>
                  </a:txBody>
                  <a:tcPr marL="8059" marR="8059" marT="80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600"/>
                        </a:spcAft>
                      </a:pPr>
                      <a:r>
                        <a:rPr lang="ru-RU" sz="1800" b="0" i="0" u="none" strike="noStrike" dirty="0">
                          <a:solidFill>
                            <a:srgbClr val="993300"/>
                          </a:solidFill>
                          <a:effectLst/>
                          <a:latin typeface="Calibri" panose="020F0502020204030204" pitchFamily="34" charset="0"/>
                        </a:rPr>
                        <a:t>0.1–1 </a:t>
                      </a:r>
                      <a:r>
                        <a:rPr lang="ru-RU" sz="1800" b="0" i="0" u="none" strike="noStrike" dirty="0" err="1">
                          <a:solidFill>
                            <a:srgbClr val="993300"/>
                          </a:solidFill>
                          <a:effectLst/>
                          <a:latin typeface="Calibri" panose="020F0502020204030204" pitchFamily="34" charset="0"/>
                        </a:rPr>
                        <a:t>мс</a:t>
                      </a:r>
                      <a:endParaRPr lang="ru-RU" sz="1800" b="0" i="0" u="none" strike="noStrike" dirty="0">
                        <a:solidFill>
                          <a:srgbClr val="99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9" marR="8059" marT="80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600"/>
                        </a:spcAft>
                      </a:pPr>
                      <a:r>
                        <a:rPr lang="ru-RU" sz="1600" b="0" i="0" u="none" strike="noStrike" dirty="0" err="1">
                          <a:solidFill>
                            <a:srgbClr val="993300"/>
                          </a:solidFill>
                          <a:effectLst/>
                          <a:latin typeface="Calibri" panose="020F0502020204030204" pitchFamily="34" charset="0"/>
                        </a:rPr>
                        <a:t>In-memory</a:t>
                      </a:r>
                      <a:r>
                        <a:rPr lang="ru-RU" sz="1600" b="0" i="0" u="none" strike="noStrike" dirty="0">
                          <a:solidFill>
                            <a:srgbClr val="993300"/>
                          </a:solidFill>
                          <a:effectLst/>
                          <a:latin typeface="Calibri" panose="020F0502020204030204" pitchFamily="34" charset="0"/>
                        </a:rPr>
                        <a:t>, поддержка структур данных, высокая производительность, не ACID</a:t>
                      </a:r>
                    </a:p>
                  </a:txBody>
                  <a:tcPr marL="8059" marR="8059" marT="80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8534049"/>
                  </a:ext>
                </a:extLst>
              </a:tr>
            </a:tbl>
          </a:graphicData>
        </a:graphic>
      </p:graphicFrame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54D90D7-C716-4611-8C20-74567D1A2C1F}"/>
              </a:ext>
            </a:extLst>
          </p:cNvPr>
          <p:cNvSpPr/>
          <p:nvPr/>
        </p:nvSpPr>
        <p:spPr>
          <a:xfrm>
            <a:off x="882863" y="0"/>
            <a:ext cx="6957353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Пропускная способность хранилищ</a:t>
            </a:r>
            <a:endParaRPr lang="ru-RU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391267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CC4B6F5-71EA-46BC-A7AC-3442C35E8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525" y="0"/>
            <a:ext cx="680895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4390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7A1E340-B8FF-4664-8F88-B119CEF178BD}"/>
              </a:ext>
            </a:extLst>
          </p:cNvPr>
          <p:cNvSpPr/>
          <p:nvPr/>
        </p:nvSpPr>
        <p:spPr>
          <a:xfrm>
            <a:off x="87630" y="840968"/>
            <a:ext cx="3939540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6700" indent="-266700">
              <a:spcAft>
                <a:spcPts val="600"/>
              </a:spcAft>
            </a:pPr>
            <a:r>
              <a:rPr lang="ru-RU" sz="1600" dirty="0">
                <a:solidFill>
                  <a:srgbClr val="000099"/>
                </a:solidFill>
              </a:rPr>
              <a:t>🚀 </a:t>
            </a:r>
            <a:r>
              <a:rPr lang="ru-RU" sz="1600" cap="all" dirty="0">
                <a:solidFill>
                  <a:srgbClr val="000099"/>
                </a:solidFill>
              </a:rPr>
              <a:t>Производительность</a:t>
            </a:r>
          </a:p>
          <a:p>
            <a:pPr marL="266700" indent="-266700">
              <a:spcAft>
                <a:spcPts val="600"/>
              </a:spcAft>
            </a:pPr>
            <a:endParaRPr lang="ru-RU" sz="1600" dirty="0">
              <a:solidFill>
                <a:srgbClr val="000099"/>
              </a:solidFill>
            </a:endParaRPr>
          </a:p>
          <a:p>
            <a:pPr marL="266700" indent="-2667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sz="1600" dirty="0"/>
              <a:t>Оптимизация JOIN операций с большими таблицами</a:t>
            </a:r>
          </a:p>
          <a:p>
            <a:pPr marL="266700" indent="-2667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sz="1600" dirty="0"/>
              <a:t>Улучшенная статистика для более точных планов выполнения</a:t>
            </a:r>
          </a:p>
          <a:p>
            <a:pPr marL="266700" indent="-2667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sz="1600" dirty="0"/>
              <a:t>Новые алгоритмы сортировки для больших наборов данных</a:t>
            </a:r>
          </a:p>
          <a:p>
            <a:pPr marL="266700" indent="-2667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sz="1600" dirty="0"/>
              <a:t>Расширенная поддержка параллельных операций для VACUUM и CREATE INDEX</a:t>
            </a:r>
          </a:p>
          <a:p>
            <a:pPr marL="266700" indent="-2667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sz="1600" dirty="0"/>
              <a:t>Улучшенное распределение нагрузки между </a:t>
            </a:r>
            <a:r>
              <a:rPr lang="ru-RU" sz="1600" dirty="0" err="1"/>
              <a:t>воркерами</a:t>
            </a:r>
            <a:endParaRPr lang="ru-RU" sz="16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B79BB65-E41B-40F6-93D4-729578AF8C14}"/>
              </a:ext>
            </a:extLst>
          </p:cNvPr>
          <p:cNvSpPr/>
          <p:nvPr/>
        </p:nvSpPr>
        <p:spPr>
          <a:xfrm>
            <a:off x="617220" y="122605"/>
            <a:ext cx="81229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Consolas" panose="020B0609020204030204" pitchFamily="49" charset="0"/>
              </a:rPr>
              <a:t>Основные новшества </a:t>
            </a:r>
            <a:r>
              <a:rPr lang="ru-RU" sz="2000" dirty="0" err="1">
                <a:latin typeface="Consolas" panose="020B0609020204030204" pitchFamily="49" charset="0"/>
              </a:rPr>
              <a:t>PostgreSQL</a:t>
            </a:r>
            <a:r>
              <a:rPr lang="ru-RU" sz="2000" dirty="0">
                <a:latin typeface="Consolas" panose="020B0609020204030204" pitchFamily="49" charset="0"/>
              </a:rPr>
              <a:t> 18 по сравнению с 16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2CB843C-F380-44E5-B914-3B80380D79A5}"/>
              </a:ext>
            </a:extLst>
          </p:cNvPr>
          <p:cNvSpPr/>
          <p:nvPr/>
        </p:nvSpPr>
        <p:spPr>
          <a:xfrm>
            <a:off x="4179570" y="685413"/>
            <a:ext cx="4876800" cy="28777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cap="all" dirty="0">
                <a:solidFill>
                  <a:srgbClr val="C00000"/>
                </a:solidFill>
              </a:rPr>
              <a:t>🔧 Новые функции и возможности</a:t>
            </a:r>
          </a:p>
          <a:p>
            <a:endParaRPr lang="ru-RU" sz="1600" cap="all" dirty="0">
              <a:solidFill>
                <a:srgbClr val="C0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sz="1600" dirty="0"/>
              <a:t>Полная поддержка стандарта SQL/JSON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sz="1600" dirty="0"/>
              <a:t>Новые функции для работы с JSON: JSON_ARRAY(), JSON_OBJECT()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sz="1600" dirty="0"/>
              <a:t>Улучшенная производительность JSON операций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sz="1600" dirty="0"/>
              <a:t>Новые операторы для работы с массивами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sz="1600" dirty="0"/>
              <a:t>Улучшенная поддержка временных зон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sz="1600" dirty="0"/>
              <a:t>Расширенные возможности для пользовательских типов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0C42A3C-2EC9-4A8B-B927-7A3F74DF1955}"/>
              </a:ext>
            </a:extLst>
          </p:cNvPr>
          <p:cNvSpPr/>
          <p:nvPr/>
        </p:nvSpPr>
        <p:spPr>
          <a:xfrm>
            <a:off x="4168140" y="3912394"/>
            <a:ext cx="4572000" cy="123110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cap="all" dirty="0">
                <a:solidFill>
                  <a:srgbClr val="003300"/>
                </a:solidFill>
              </a:rPr>
              <a:t>🛡️ Безопасность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sz="1600" dirty="0"/>
              <a:t>Улучшенная поддержка SCRAM-SHA-256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sz="1600" dirty="0"/>
              <a:t>Новые опции для настройки SSL/TLS соединений</a:t>
            </a:r>
          </a:p>
        </p:txBody>
      </p:sp>
    </p:spTree>
    <p:extLst>
      <p:ext uri="{BB962C8B-B14F-4D97-AF65-F5344CB8AC3E}">
        <p14:creationId xmlns:p14="http://schemas.microsoft.com/office/powerpoint/2010/main" val="2118452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3C9372A-33C3-4817-828C-79C36502B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171" y="0"/>
            <a:ext cx="681765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6252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C379FA5-32D3-45DF-8927-99726F2CD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878" y="0"/>
            <a:ext cx="68602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4823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A2B98E0-77E6-468D-87C2-CC3E3CFE0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869" y="0"/>
            <a:ext cx="680226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9454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FDFB331-622D-4CE7-A83E-F6AB907E5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743" y="0"/>
            <a:ext cx="682451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3237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F60B53D-9210-450D-BF3F-8B2B73E0B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834" y="0"/>
            <a:ext cx="684233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8082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3AAAEBC-9487-4431-BE6C-40EB3805F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589" y="0"/>
            <a:ext cx="684682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6547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B216773-65B4-40B8-ADF4-368CC9CD0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362" y="0"/>
            <a:ext cx="685127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7706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BA799AB-FDCD-45A0-8E63-42E98EB2C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267" y="0"/>
            <a:ext cx="681346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369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shift</Template>
  <TotalTime>866</TotalTime>
  <Words>309</Words>
  <Application>Microsoft Office PowerPoint</Application>
  <PresentationFormat>Экран (16:9)</PresentationFormat>
  <Paragraphs>77</Paragraphs>
  <Slides>25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6" baseType="lpstr">
      <vt:lpstr>Arial</vt:lpstr>
      <vt:lpstr>Calibri</vt:lpstr>
      <vt:lpstr>Calibri Light</vt:lpstr>
      <vt:lpstr>Consolas</vt:lpstr>
      <vt:lpstr>News706 BT</vt:lpstr>
      <vt:lpstr>Open Sans</vt:lpstr>
      <vt:lpstr>Segoe UI Light</vt:lpstr>
      <vt:lpstr>Times New Roman</vt:lpstr>
      <vt:lpstr>Wingdings</vt:lpstr>
      <vt:lpstr>Yandex Sans Text Light</vt:lpstr>
      <vt:lpstr>Office Theme</vt:lpstr>
      <vt:lpstr>Презентация PowerPoint</vt:lpstr>
      <vt:lpstr>Презентация PowerPoint</vt:lpstr>
      <vt:lpstr>Организационные  моменты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subject/>
  <dc:creator>User</dc:creator>
  <cp:keywords>docId FE6D1329DBA66969002233C0258430B5</cp:keywords>
  <dc:description/>
  <cp:lastModifiedBy>user</cp:lastModifiedBy>
  <cp:revision>52</cp:revision>
  <dcterms:created xsi:type="dcterms:W3CDTF">2013-01-27T09:14:16Z</dcterms:created>
  <dcterms:modified xsi:type="dcterms:W3CDTF">2025-12-05T05:43:31Z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Экран (16:9)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10</vt:i4>
  </property>
</Properties>
</file>