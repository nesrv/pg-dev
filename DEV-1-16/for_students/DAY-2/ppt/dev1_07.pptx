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3" r:id="rId3"/>
    <p:sldId id="258" r:id="rId4"/>
    <p:sldId id="271" r:id="rId5"/>
    <p:sldId id="272" r:id="rId6"/>
    <p:sldId id="289" r:id="rId7"/>
    <p:sldId id="290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8" r:id="rId16"/>
    <p:sldId id="286" r:id="rId17"/>
    <p:sldId id="287" r:id="rId18"/>
    <p:sldId id="291" r:id="rId19"/>
    <p:sldId id="280" r:id="rId20"/>
    <p:sldId id="281" r:id="rId21"/>
    <p:sldId id="282" r:id="rId22"/>
    <p:sldId id="283" r:id="rId23"/>
    <p:sldId id="284" r:id="rId24"/>
    <p:sldId id="285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92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4323D-5628-478A-ACC5-D1EB01A2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0AAC9-5EF8-41C5-BF7E-41AD39FF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6FD4B-538B-4A41-8804-03D6C77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ECFF5-9EC6-4541-A5A5-26552516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3DBD6-9020-4FCA-AFFF-C861A9BD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40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FD26A-DAD1-457E-85E2-7A0C36C9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3FF01-1BF6-4D4B-AB2E-9E01C74F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E9856D-A5E4-45EC-A58B-3BAD44BC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C7D3D0-8833-406F-870F-FAD77AB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2D93D-6527-4184-981B-A0C48060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80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A1CFF-79E3-4FF4-8082-95CE35A9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6F15F-FE02-412B-B21B-D3A50D60C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2336D6-7181-4E05-97FC-518BE9AEA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742ED7-6A00-4B64-BB94-806ACA22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E9F802-C939-44A6-9A7C-46880BEF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242350-39C7-42B6-B5AA-F95DC86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39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D8D9-589F-4A17-80CC-4D4412C0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FA5E8-CDB3-43E6-BB5C-3CC6441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15A8B-934C-4696-BFA4-118ACECC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4BC08F-AE03-4E7C-86DD-71B3F999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219106-55B7-45D8-9B84-4A26D1507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C4523-40DB-4661-BD13-D4E0A110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565C69-5941-4653-BEBC-C53D8BD0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644B6E-52BB-4388-A2A7-5C08182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29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C9D9C-22B8-48BF-A71C-8AE859F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473AB3-7693-4194-9F95-C40C11A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A188DC-54CF-4EAD-A2EA-D9BAD140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33F7DD-BF35-4971-9E58-23B339FC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32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04DBA1-6A66-4E5B-9C0B-2765ABE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65E14D-A24D-414A-8547-0B0E5E61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2F323-C711-401D-A96B-3B77062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18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9D37E-117C-40A6-88BF-CC0370E0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9718B-343E-4618-BAB7-E29638E2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183B23-70B5-48DB-9559-E8C452679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845CE-C0DC-457B-9CEE-B0D24FDC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84E07F-27E8-40D6-B3F4-E2DE85F7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EE34A7-8243-4585-A4B7-1A7312A6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61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DDD81-B55B-4870-BBE7-716CE0DC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33B792-D79A-46E9-A2FD-D297EFA2A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B8B945-1D01-4704-8852-DD518C33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B34C35-9E18-43C9-B9AC-3BA479AC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B47E7-9883-416D-9A5B-CB234EC2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79CF84-A496-452C-9AB6-F49D4491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5B1C-52AB-461F-A5D1-8FEE2571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EA2B22-A7AF-4E7C-B752-87426D423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ECB61-A937-4032-ADDE-A5B32FB0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697B1F-2AC7-44BE-BBF0-11037A55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9845EB-9B90-44E4-8D42-58DBEDA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9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3F0A3C-D74B-4F74-A90D-2BFCFAA9C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75F462-F5A9-4395-B0F6-1B30DAB42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FC937-02FE-4C99-A8FA-DACB5E4A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D63C7-A170-4A62-92F2-1DA4A856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F1561-2919-420A-9FBC-96AADD16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941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298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2927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9212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4081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0684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38080" y="365280"/>
            <a:ext cx="10515360" cy="614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644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2504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82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9502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5628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938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9344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794832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794832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316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645584" y="1617663"/>
            <a:ext cx="10972800" cy="4500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4176000" y="6398075"/>
            <a:ext cx="3840000" cy="36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659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88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C070E-F050-4E95-B0D4-0848113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15B4CB-E46C-4714-B193-E9FC35C7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0133B-8F47-4EDD-8FD8-2F1D4E550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90F8C-5FB9-4EFE-BCC7-F735A3026FD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AE131-FF0E-4909-8469-DDD7D0793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87799-EDE5-4DFB-AC96-1E0EB9ACE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20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903" lvl="1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2851" lvl="2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80" lvl="3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229" lvl="4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720" y="6356160"/>
            <a:ext cx="411456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72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tabLst>
                <a:tab pos="0" algn="l"/>
              </a:tabLst>
            </a:pPr>
            <a:fld id="{05EF2BE1-C6B1-44D9-AC14-847FE245C45E}" type="slidenum">
              <a:rPr lang="en-US" sz="1200" spc="-1" smtClean="0">
                <a:solidFill>
                  <a:srgbClr val="8B8B8B"/>
                </a:solidFill>
                <a:latin typeface="Calibri"/>
              </a:rPr>
              <a:pPr algn="r">
                <a:tabLst>
                  <a:tab pos="0" algn="l"/>
                </a:tabLst>
              </a:pPr>
              <a:t>‹#›</a:t>
            </a:fld>
            <a:endParaRPr lang="ru-RU" sz="1200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9508320" y="5517120"/>
            <a:ext cx="2302080" cy="102144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6958080" y="-3098400"/>
            <a:ext cx="6575520" cy="537072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09679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74" indent="-227994" algn="l" defTabSz="1219170" rtl="0" eaLnBrk="1" latinLnBrk="0" hangingPunct="1">
        <a:lnSpc>
          <a:spcPct val="90000"/>
        </a:lnSpc>
        <a:spcBef>
          <a:spcPts val="1001"/>
        </a:spcBef>
        <a:buClr>
          <a:srgbClr val="000000"/>
        </a:buClr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60400" y="2906060"/>
            <a:ext cx="10515360" cy="1325280"/>
          </a:xfrm>
        </p:spPr>
        <p:txBody>
          <a:bodyPr/>
          <a:lstStyle/>
          <a:p>
            <a:pPr algn="ctr"/>
            <a:b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Разработка серверной части приложений </a:t>
            </a:r>
            <a:r>
              <a:rPr lang="ru-RU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PostgreSQL</a:t>
            </a: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16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(dev-1)</a:t>
            </a:r>
          </a:p>
        </p:txBody>
      </p:sp>
      <p:pic>
        <p:nvPicPr>
          <p:cNvPr id="1026" name="Picture 2" descr="https://avatars.mds.yandex.net/i?id=6d149088086246972def0787c29b2c99ca2e0b99-4903276-images-thumbs&amp;n=13">
            <a:extLst>
              <a:ext uri="{FF2B5EF4-FFF2-40B4-BE49-F238E27FC236}">
                <a16:creationId xmlns:a16="http://schemas.microsoft.com/office/drawing/2014/main" id="{03698AE0-4B56-44A2-B54C-E0F1338D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41" y="167340"/>
            <a:ext cx="2217839" cy="21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9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EC85C6-1EF8-441D-B9A0-C5F0239BB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777" y="0"/>
            <a:ext cx="9186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FF8CF6-2E47-4536-A7BC-2A17767B6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498" y="0"/>
            <a:ext cx="9141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3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F45061-6565-4222-BBC0-19A5AF682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334" y="0"/>
            <a:ext cx="9093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79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DD0894-E8C0-41ED-8FFE-F82638EA6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672" y="8460"/>
            <a:ext cx="10515600" cy="1325563"/>
          </a:xfrm>
        </p:spPr>
        <p:txBody>
          <a:bodyPr/>
          <a:lstStyle/>
          <a:p>
            <a:r>
              <a:rPr lang="en-US" b="1" dirty="0"/>
              <a:t>PostgreSQL API (REST API PostgreSQL)</a:t>
            </a:r>
            <a:endParaRPr lang="ru-RU" dirty="0"/>
          </a:p>
        </p:txBody>
      </p:sp>
      <p:pic>
        <p:nvPicPr>
          <p:cNvPr id="1026" name="Picture 2" descr="Методы HTTP, используемые API-интерфейсами REST PostgreSQL.">
            <a:extLst>
              <a:ext uri="{FF2B5EF4-FFF2-40B4-BE49-F238E27FC236}">
                <a16:creationId xmlns:a16="http://schemas.microsoft.com/office/drawing/2014/main" id="{C04F6037-7307-4FEB-8700-05A66FE85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30" y="973080"/>
            <a:ext cx="9781564" cy="3056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154ABFB-7BA8-4734-ADBC-30A7CE8A16F6}"/>
              </a:ext>
            </a:extLst>
          </p:cNvPr>
          <p:cNvSpPr/>
          <p:nvPr/>
        </p:nvSpPr>
        <p:spPr>
          <a:xfrm>
            <a:off x="260059" y="4029819"/>
            <a:ext cx="1125802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ru-RU" dirty="0" err="1"/>
              <a:t>PostgreSQL</a:t>
            </a:r>
            <a:r>
              <a:rPr lang="ru-RU" dirty="0"/>
              <a:t> REST API — это веб-служба, которая использует HTTP-запросы, чтобы позволить приложению взаимодействовать с база данных </a:t>
            </a:r>
            <a:r>
              <a:rPr lang="ru-RU" dirty="0" err="1"/>
              <a:t>PostgreSQL</a:t>
            </a:r>
            <a:r>
              <a:rPr lang="ru-RU" dirty="0"/>
              <a:t>. </a:t>
            </a:r>
            <a:endParaRPr lang="en-US" dirty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ru-RU" dirty="0"/>
              <a:t>Он использует стандартные методы HTTP, такие как GET, POST, PUT и DELETE, вместо традиционных языков запросов к базе данных, таких как SQL. </a:t>
            </a:r>
            <a:endParaRPr lang="en-US" dirty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ru-RU" dirty="0"/>
              <a:t>API REST возвращают данные в формате JSON.</a:t>
            </a:r>
            <a:endParaRPr lang="en-US" dirty="0"/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ru-RU" dirty="0" err="1"/>
              <a:t>PostgREST</a:t>
            </a:r>
            <a:r>
              <a:rPr lang="ru-RU" dirty="0"/>
              <a:t> — это автономный веб-сервер, который может напрямую превратить базу данных </a:t>
            </a:r>
            <a:r>
              <a:rPr lang="ru-RU" dirty="0" err="1"/>
              <a:t>PostgreSQL</a:t>
            </a:r>
            <a:r>
              <a:rPr lang="ru-RU" dirty="0"/>
              <a:t> в </a:t>
            </a:r>
            <a:r>
              <a:rPr lang="ru-RU" dirty="0" err="1"/>
              <a:t>RESTful</a:t>
            </a:r>
            <a:r>
              <a:rPr lang="ru-RU" dirty="0"/>
              <a:t> API. </a:t>
            </a:r>
          </a:p>
        </p:txBody>
      </p:sp>
    </p:spTree>
    <p:extLst>
      <p:ext uri="{BB962C8B-B14F-4D97-AF65-F5344CB8AC3E}">
        <p14:creationId xmlns:p14="http://schemas.microsoft.com/office/powerpoint/2010/main" val="577470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3C8F7B2-1594-4A28-9CD7-53189BBDBDC5}"/>
              </a:ext>
            </a:extLst>
          </p:cNvPr>
          <p:cNvSpPr/>
          <p:nvPr/>
        </p:nvSpPr>
        <p:spPr>
          <a:xfrm>
            <a:off x="286623" y="105013"/>
            <a:ext cx="11618753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1348D"/>
                </a:solidFill>
                <a:latin typeface="Open Sans"/>
              </a:rPr>
              <a:t>ПЛЮСЫ И МИНУСЫ </a:t>
            </a:r>
            <a:r>
              <a:rPr lang="en-US" sz="2000" b="1" dirty="0">
                <a:solidFill>
                  <a:srgbClr val="01348D"/>
                </a:solidFill>
                <a:latin typeface="Open Sans"/>
              </a:rPr>
              <a:t>API</a:t>
            </a:r>
            <a:r>
              <a:rPr lang="ru-RU" sz="2000" b="1" dirty="0">
                <a:solidFill>
                  <a:srgbClr val="01348D"/>
                </a:solidFill>
                <a:latin typeface="Open Sans"/>
              </a:rPr>
              <a:t>POSTGREST</a:t>
            </a:r>
            <a:endParaRPr lang="en-US" sz="2000" b="1" dirty="0">
              <a:solidFill>
                <a:srgbClr val="01348D"/>
              </a:solidFill>
              <a:latin typeface="Open Sans"/>
            </a:endParaRPr>
          </a:p>
          <a:p>
            <a:endParaRPr lang="ru-RU" sz="2000" b="1" dirty="0">
              <a:solidFill>
                <a:srgbClr val="01348D"/>
              </a:solidFill>
              <a:latin typeface="Open Sans"/>
            </a:endParaRPr>
          </a:p>
          <a:p>
            <a:r>
              <a:rPr lang="ru-RU" sz="1600" dirty="0">
                <a:solidFill>
                  <a:srgbClr val="535353"/>
                </a:solidFill>
                <a:latin typeface="Open Sans"/>
              </a:rPr>
              <a:t>У реализации </a:t>
            </a:r>
            <a:r>
              <a:rPr lang="ru-RU" sz="1600" b="1" dirty="0">
                <a:solidFill>
                  <a:srgbClr val="535353"/>
                </a:solidFill>
                <a:latin typeface="Open Sans"/>
              </a:rPr>
              <a:t>API </a:t>
            </a:r>
            <a:r>
              <a:rPr lang="ru-RU" sz="1600" b="1" dirty="0" err="1">
                <a:solidFill>
                  <a:srgbClr val="535353"/>
                </a:solidFill>
                <a:latin typeface="Open Sans"/>
              </a:rPr>
              <a:t>PostgREST</a:t>
            </a:r>
            <a:r>
              <a:rPr lang="ru-RU" sz="1600" b="1" dirty="0">
                <a:solidFill>
                  <a:srgbClr val="535353"/>
                </a:solidFill>
                <a:latin typeface="Open Sans"/>
              </a:rPr>
              <a:t> </a:t>
            </a:r>
            <a:r>
              <a:rPr lang="ru-RU" sz="1600" dirty="0">
                <a:solidFill>
                  <a:srgbClr val="535353"/>
                </a:solidFill>
                <a:latin typeface="Open Sans"/>
              </a:rPr>
              <a:t>есть как плюсы, так и минусы. Их понимание поможет вам максимально эффективно использовать эти </a:t>
            </a:r>
            <a:r>
              <a:rPr lang="ru-RU" sz="1600" b="1" dirty="0">
                <a:solidFill>
                  <a:srgbClr val="535353"/>
                </a:solidFill>
                <a:latin typeface="Open Sans"/>
              </a:rPr>
              <a:t>API</a:t>
            </a:r>
            <a:r>
              <a:rPr lang="ru-RU" sz="1600" dirty="0">
                <a:solidFill>
                  <a:srgbClr val="535353"/>
                </a:solidFill>
                <a:latin typeface="Open Sans"/>
              </a:rPr>
              <a:t>. </a:t>
            </a:r>
            <a:endParaRPr lang="en-US" sz="1600" dirty="0">
              <a:solidFill>
                <a:srgbClr val="535353"/>
              </a:solidFill>
              <a:latin typeface="Open Sans"/>
            </a:endParaRPr>
          </a:p>
          <a:p>
            <a:endParaRPr lang="en-US" sz="1600" dirty="0">
              <a:solidFill>
                <a:srgbClr val="535353"/>
              </a:solidFill>
              <a:latin typeface="Open Sans"/>
            </a:endParaRPr>
          </a:p>
          <a:p>
            <a:r>
              <a:rPr lang="ru-RU" sz="1600" b="1" dirty="0">
                <a:solidFill>
                  <a:srgbClr val="01348D"/>
                </a:solidFill>
                <a:latin typeface="Open Sans"/>
              </a:rPr>
              <a:t>Плюсы: </a:t>
            </a:r>
          </a:p>
          <a:p>
            <a:pPr indent="266700">
              <a:buFont typeface="Arial" panose="020B0604020202020204" pitchFamily="34" charset="0"/>
              <a:buChar char="•"/>
            </a:pPr>
            <a:r>
              <a:rPr lang="ru-RU" sz="1600" dirty="0">
                <a:latin typeface="Open Sans"/>
              </a:rPr>
              <a:t>Автоматическое создание </a:t>
            </a:r>
            <a:r>
              <a:rPr lang="ru-RU" sz="1600" b="1" dirty="0">
                <a:latin typeface="Open Sans"/>
              </a:rPr>
              <a:t>API</a:t>
            </a:r>
            <a:r>
              <a:rPr lang="ru-RU" sz="1600" dirty="0">
                <a:latin typeface="Open Sans"/>
              </a:rPr>
              <a:t> сводит к минимуму усилия по написанию кода, поэтому разработчики могут вместо этого сосредоточиться на логике приложения. </a:t>
            </a:r>
          </a:p>
          <a:p>
            <a:pPr indent="266700">
              <a:buFont typeface="Arial" panose="020B0604020202020204" pitchFamily="34" charset="0"/>
              <a:buChar char="•"/>
            </a:pPr>
            <a:r>
              <a:rPr lang="ru-RU" sz="1600" dirty="0">
                <a:latin typeface="Open Sans"/>
              </a:rPr>
              <a:t>Поскольку </a:t>
            </a:r>
            <a:r>
              <a:rPr lang="ru-RU" sz="1600" b="1" dirty="0" err="1">
                <a:latin typeface="Open Sans"/>
              </a:rPr>
              <a:t>PostgREST</a:t>
            </a:r>
            <a:r>
              <a:rPr lang="ru-RU" sz="1600" dirty="0">
                <a:latin typeface="Open Sans"/>
              </a:rPr>
              <a:t> использует схему базы данных для создания конечных точек, API немедленно отразит любые изменения в базе данных. </a:t>
            </a:r>
          </a:p>
          <a:p>
            <a:pPr indent="266700">
              <a:buFont typeface="Arial" panose="020B0604020202020204" pitchFamily="34" charset="0"/>
              <a:buChar char="•"/>
            </a:pPr>
            <a:r>
              <a:rPr lang="ru-RU" sz="1600" dirty="0">
                <a:latin typeface="Open Sans"/>
              </a:rPr>
              <a:t>Инструмент оптимизирован для повышения производительности, поэтому он эффективно обрабатывает подключения к базе данных и генерацию запросов. </a:t>
            </a:r>
          </a:p>
          <a:p>
            <a:pPr indent="266700">
              <a:buFont typeface="Arial" panose="020B0604020202020204" pitchFamily="34" charset="0"/>
              <a:buChar char="•"/>
            </a:pPr>
            <a:r>
              <a:rPr lang="ru-RU" sz="1600" dirty="0">
                <a:latin typeface="Open Sans"/>
              </a:rPr>
              <a:t>Он предлагает различные меры безопасности, такие как управление доступом на основе ролей и разрешения на операции с базой данных, а также интегрируется с JWT для безопасной передачи данных. </a:t>
            </a:r>
            <a:endParaRPr lang="en-US" sz="1600" dirty="0">
              <a:latin typeface="Open Sans"/>
            </a:endParaRPr>
          </a:p>
          <a:p>
            <a:pPr indent="266700">
              <a:buFont typeface="Arial" panose="020B0604020202020204" pitchFamily="34" charset="0"/>
              <a:buChar char="•"/>
            </a:pPr>
            <a:r>
              <a:rPr lang="ru-RU" sz="1600" dirty="0">
                <a:latin typeface="Open Sans"/>
              </a:rPr>
              <a:t>Быстрое прототипированию приложений, в которых структура API напрямую зависит от схемы базы данных (т. е. конечные точки, параметры и ответы API создаются на основе таблиц, столбцов и связей базы данных).</a:t>
            </a:r>
            <a:endParaRPr lang="en-US" sz="1600" dirty="0">
              <a:latin typeface="Open Sans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535353"/>
              </a:solidFill>
              <a:latin typeface="Open Sans"/>
            </a:endParaRPr>
          </a:p>
          <a:p>
            <a:r>
              <a:rPr lang="ru-RU" sz="1600" b="1" dirty="0">
                <a:solidFill>
                  <a:srgbClr val="01348D"/>
                </a:solidFill>
                <a:latin typeface="Open Sans"/>
              </a:rPr>
              <a:t>Минусы: </a:t>
            </a:r>
            <a:endParaRPr lang="en-US" sz="1600" b="1" dirty="0">
              <a:solidFill>
                <a:srgbClr val="01348D"/>
              </a:solidFill>
              <a:latin typeface="Open Sans"/>
            </a:endParaRPr>
          </a:p>
          <a:p>
            <a:endParaRPr lang="ru-RU" sz="1600" b="1" dirty="0">
              <a:solidFill>
                <a:srgbClr val="01348D"/>
              </a:solidFill>
              <a:latin typeface="Open Sans"/>
            </a:endParaRPr>
          </a:p>
          <a:p>
            <a:pPr indent="180975">
              <a:buFont typeface="Arial" panose="020B0604020202020204" pitchFamily="34" charset="0"/>
              <a:buChar char="•"/>
            </a:pPr>
            <a:r>
              <a:rPr lang="ru-RU" sz="1600" dirty="0" err="1">
                <a:latin typeface="Open Sans"/>
              </a:rPr>
              <a:t>PostgREST</a:t>
            </a:r>
            <a:r>
              <a:rPr lang="ru-RU" sz="1600" dirty="0">
                <a:latin typeface="Open Sans"/>
              </a:rPr>
              <a:t> очень эффективен для базовых операций CRUD, но работа с более </a:t>
            </a:r>
            <a:r>
              <a:rPr lang="ru-RU" sz="1600" b="1" dirty="0">
                <a:latin typeface="Open Sans"/>
              </a:rPr>
              <a:t>сложной бизнес-логикой </a:t>
            </a:r>
            <a:r>
              <a:rPr lang="ru-RU" sz="1600" dirty="0">
                <a:latin typeface="Open Sans"/>
              </a:rPr>
              <a:t>может быть сложной и требовать внешней специальной разработки. </a:t>
            </a:r>
          </a:p>
          <a:p>
            <a:pPr indent="180975">
              <a:buFont typeface="Arial" panose="020B0604020202020204" pitchFamily="34" charset="0"/>
              <a:buChar char="•"/>
            </a:pPr>
            <a:r>
              <a:rPr lang="ru-RU" sz="1600" dirty="0">
                <a:latin typeface="Open Sans"/>
              </a:rPr>
              <a:t>Разработка пользовательских рабочих процессов или интеграция </a:t>
            </a:r>
            <a:r>
              <a:rPr lang="ru-RU" sz="1600" b="1" dirty="0" err="1">
                <a:latin typeface="Open Sans"/>
              </a:rPr>
              <a:t>PostgREST</a:t>
            </a:r>
            <a:r>
              <a:rPr lang="ru-RU" sz="1600" dirty="0">
                <a:latin typeface="Open Sans"/>
              </a:rPr>
              <a:t> со сторонними системами требует дополнительных инструментов или ручного написания кода. </a:t>
            </a:r>
          </a:p>
          <a:p>
            <a:pPr indent="180975">
              <a:buFont typeface="Arial" panose="020B0604020202020204" pitchFamily="34" charset="0"/>
              <a:buChar char="•"/>
            </a:pPr>
            <a:r>
              <a:rPr lang="ru-RU" sz="1600" dirty="0">
                <a:latin typeface="Open Sans"/>
              </a:rPr>
              <a:t>Для полного использования </a:t>
            </a:r>
            <a:r>
              <a:rPr lang="ru-RU" sz="1600" dirty="0" err="1">
                <a:latin typeface="Open Sans"/>
              </a:rPr>
              <a:t>PostgREST</a:t>
            </a:r>
            <a:r>
              <a:rPr lang="ru-RU" sz="1600" dirty="0">
                <a:latin typeface="Open Sans"/>
              </a:rPr>
              <a:t> требуется понимание его более продвинутых функций, таких как внешние ключи, транзакции, наследование и оконные функции.</a:t>
            </a:r>
            <a:endParaRPr lang="ru-RU" sz="1600" b="0" i="0" dirty="0"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98456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8824C66-A1F6-4976-9DDE-02C8BDC88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498" y="0"/>
            <a:ext cx="9141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078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5164A4A-A7A9-4FD2-8B55-BD4560543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447" y="0"/>
            <a:ext cx="91171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35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DD022C2-944C-4A86-8919-0781C523F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254" y="0"/>
            <a:ext cx="90814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471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13616E8-2589-42DE-9FC6-33222F5C6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992" y="0"/>
            <a:ext cx="9132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8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0BAAD27-ADF4-4991-9513-C5B89B1D2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474" y="0"/>
            <a:ext cx="91050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26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9E322FE-C746-47AC-BD65-D12C78E4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992" y="0"/>
            <a:ext cx="9138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53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8F0C02-422D-412D-9D23-AC0FEC2A2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498" y="0"/>
            <a:ext cx="91410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22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C74A5A-D6F9-48F7-B892-2A4879C6B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863" y="0"/>
            <a:ext cx="91142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10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982721-F20D-4612-8F44-2E3C6FAE2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137" y="2084358"/>
            <a:ext cx="7829725" cy="3527877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8DBD131-8EB9-49D2-B869-F53E74A3AAE5}"/>
              </a:ext>
            </a:extLst>
          </p:cNvPr>
          <p:cNvSpPr/>
          <p:nvPr/>
        </p:nvSpPr>
        <p:spPr>
          <a:xfrm>
            <a:off x="1015757" y="509523"/>
            <a:ext cx="99317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Схема данных приложения состоит из четырех таблиц</a:t>
            </a:r>
          </a:p>
        </p:txBody>
      </p:sp>
    </p:spTree>
    <p:extLst>
      <p:ext uri="{BB962C8B-B14F-4D97-AF65-F5344CB8AC3E}">
        <p14:creationId xmlns:p14="http://schemas.microsoft.com/office/powerpoint/2010/main" val="961432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B16694-9864-4E7F-9090-29AE38977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04" y="1999060"/>
            <a:ext cx="10489143" cy="3732334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FDA8198-4BF9-47FC-864A-59CF1E6D72A2}"/>
              </a:ext>
            </a:extLst>
          </p:cNvPr>
          <p:cNvSpPr/>
          <p:nvPr/>
        </p:nvSpPr>
        <p:spPr>
          <a:xfrm>
            <a:off x="4472022" y="324966"/>
            <a:ext cx="13580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Книги</a:t>
            </a:r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ru-RU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74583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13563B-4FF5-40E0-B669-D451D818C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481" y="1958197"/>
            <a:ext cx="8916869" cy="177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45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FF6F4D-2008-4BC1-A899-8B6E6FE17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22" y="0"/>
            <a:ext cx="9120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33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05270E-AEF7-4497-B6E2-2B8D3DA1B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451" y="0"/>
            <a:ext cx="9129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79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D57C8F-542A-4CE6-B898-645C3A683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98" y="0"/>
            <a:ext cx="91052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684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6729998-6048-4885-A4C4-78D9CA2D6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39" y="0"/>
            <a:ext cx="91739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844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7C74A5A-D6F9-48F7-B892-2A4879C6B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863" y="0"/>
            <a:ext cx="91142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795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54A74B-BDBA-4A7F-87AC-2211D14A8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324" y="0"/>
            <a:ext cx="9099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3044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655</TotalTime>
  <Words>92</Words>
  <Application>Microsoft Office PowerPoint</Application>
  <PresentationFormat>Широкоэкранный</PresentationFormat>
  <Paragraphs>25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23</vt:i4>
      </vt:variant>
    </vt:vector>
  </HeadingPairs>
  <TitlesOfParts>
    <vt:vector size="33" baseType="lpstr">
      <vt:lpstr>Arial</vt:lpstr>
      <vt:lpstr>Calibri</vt:lpstr>
      <vt:lpstr>Calibri Light</vt:lpstr>
      <vt:lpstr>News706 BT</vt:lpstr>
      <vt:lpstr>Open Sans</vt:lpstr>
      <vt:lpstr>Segoe UI Light</vt:lpstr>
      <vt:lpstr>Times New Roman</vt:lpstr>
      <vt:lpstr>Wingdings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PostgreSQL API (REST API PostgreSQL)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19</cp:revision>
  <dcterms:created xsi:type="dcterms:W3CDTF">2024-09-11T19:02:22Z</dcterms:created>
  <dcterms:modified xsi:type="dcterms:W3CDTF">2025-12-11T19:44:16Z</dcterms:modified>
</cp:coreProperties>
</file>