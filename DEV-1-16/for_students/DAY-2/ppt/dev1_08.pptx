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3" r:id="rId3"/>
    <p:sldId id="258" r:id="rId4"/>
    <p:sldId id="272" r:id="rId5"/>
    <p:sldId id="280" r:id="rId6"/>
    <p:sldId id="273" r:id="rId7"/>
    <p:sldId id="274" r:id="rId8"/>
    <p:sldId id="275" r:id="rId9"/>
    <p:sldId id="276" r:id="rId10"/>
    <p:sldId id="277" r:id="rId11"/>
    <p:sldId id="278" r:id="rId12"/>
    <p:sldId id="279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92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4323D-5628-478A-ACC5-D1EB01A2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C0AAC9-5EF8-41C5-BF7E-41AD39FFA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6FD4B-538B-4A41-8804-03D6C77E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ECFF5-9EC6-4541-A5A5-26552516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C3DBD6-9020-4FCA-AFFF-C861A9BD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40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FD26A-DAD1-457E-85E2-7A0C36C9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83FF01-1BF6-4D4B-AB2E-9E01C74F7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E9856D-A5E4-45EC-A58B-3BAD44BC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C7D3D0-8833-406F-870F-FAD77AB8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12D93D-6527-4184-981B-A0C48060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80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A1CFF-79E3-4FF4-8082-95CE35A9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6F15F-FE02-412B-B21B-D3A50D60C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2336D6-7181-4E05-97FC-518BE9AEA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742ED7-6A00-4B64-BB94-806ACA22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E9F802-C939-44A6-9A7C-46880BEF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242350-39C7-42B6-B5AA-F95DC860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39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7D8D9-589F-4A17-80CC-4D4412C0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7FA5E8-CDB3-43E6-BB5C-3CC6441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115A8B-934C-4696-BFA4-118ACECCD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4BC08F-AE03-4E7C-86DD-71B3F9995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219106-55B7-45D8-9B84-4A26D1507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1C4523-40DB-4661-BD13-D4E0A110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565C69-5941-4653-BEBC-C53D8BD0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8644B6E-52BB-4388-A2A7-5C08182B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29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C9D9C-22B8-48BF-A71C-8AE859F5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F473AB3-7693-4194-9F95-C40C11A7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A188DC-54CF-4EAD-A2EA-D9BAD140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33F7DD-BF35-4971-9E58-23B339FC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32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04DBA1-6A66-4E5B-9C0B-2765ABE7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65E14D-A24D-414A-8547-0B0E5E61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12F323-C711-401D-A96B-3B77062A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18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9D37E-117C-40A6-88BF-CC0370E0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D9718B-343E-4618-BAB7-E29638E2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183B23-70B5-48DB-9559-E8C452679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3845CE-C0DC-457B-9CEE-B0D24FDC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84E07F-27E8-40D6-B3F4-E2DE85F7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EE34A7-8243-4585-A4B7-1A7312A6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61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DDD81-B55B-4870-BBE7-716CE0DC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933B792-D79A-46E9-A2FD-D297EFA2A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B8B945-1D01-4704-8852-DD518C337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B34C35-9E18-43C9-B9AC-3BA479AC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0B47E7-9883-416D-9A5B-CB234EC23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79CF84-A496-452C-9AB6-F49D4491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9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35B1C-52AB-461F-A5D1-8FEE2571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EA2B22-A7AF-4E7C-B752-87426D423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ECB61-A937-4032-ADDE-A5B32FB0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697B1F-2AC7-44BE-BBF0-11037A55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9845EB-9B90-44E4-8D42-58DBEDA0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9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3F0A3C-D74B-4F74-A90D-2BFCFAA9C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75F462-F5A9-4395-B0F6-1B30DAB42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8FC937-02FE-4C99-A8FA-DACB5E4A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2D63C7-A170-4A62-92F2-1DA4A856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3F1561-2919-420A-9FBC-96AADD16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941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298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2927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9212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4081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0684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838080" y="365280"/>
            <a:ext cx="10515360" cy="6144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86447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2504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9820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95024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56286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938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39344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794832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794832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3164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1"/>
          </p:nvPr>
        </p:nvSpPr>
        <p:spPr>
          <a:xfrm>
            <a:off x="645584" y="1617663"/>
            <a:ext cx="10972800" cy="4500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>
          <a:xfrm>
            <a:off x="4176000" y="6398075"/>
            <a:ext cx="3840000" cy="360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Нижний 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56590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88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C070E-F050-4E95-B0D4-0848113A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15B4CB-E46C-4714-B193-E9FC35C7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60133B-8F47-4EDD-8FD8-2F1D4E550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90F8C-5FB9-4EFE-BCC7-F735A3026FD8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2AE131-FF0E-4909-8469-DDD7D0793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687799-EDE5-4DFB-AC96-1E0EB9ACE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20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360" indent="-171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685903" lvl="1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2851" lvl="2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80" lvl="3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229" lvl="4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720" y="6356160"/>
            <a:ext cx="411456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72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tabLst>
                <a:tab pos="0" algn="l"/>
              </a:tabLst>
            </a:pPr>
            <a:fld id="{05EF2BE1-C6B1-44D9-AC14-847FE245C45E}" type="slidenum">
              <a:rPr lang="en-US" sz="1200" spc="-1" smtClean="0">
                <a:solidFill>
                  <a:srgbClr val="8B8B8B"/>
                </a:solidFill>
                <a:latin typeface="Calibri"/>
              </a:rPr>
              <a:pPr algn="r">
                <a:tabLst>
                  <a:tab pos="0" algn="l"/>
                </a:tabLst>
              </a:pPr>
              <a:t>‹#›</a:t>
            </a:fld>
            <a:endParaRPr lang="ru-RU" sz="1200" spc="-1">
              <a:latin typeface="Times New Roman"/>
            </a:endParaRPr>
          </a:p>
        </p:txBody>
      </p:sp>
      <p:sp>
        <p:nvSpPr>
          <p:cNvPr id="5" name="CustomShape 6"/>
          <p:cNvSpPr/>
          <p:nvPr/>
        </p:nvSpPr>
        <p:spPr>
          <a:xfrm>
            <a:off x="9508320" y="5517120"/>
            <a:ext cx="2302080" cy="1021440"/>
          </a:xfrm>
          <a:custGeom>
            <a:avLst/>
            <a:gdLst/>
            <a:ahLst/>
            <a:cxnLst/>
            <a:rect l="l" t="t" r="r" b="b"/>
            <a:pathLst>
              <a:path w="3983913" h="1593565">
                <a:moveTo>
                  <a:pt x="0" y="0"/>
                </a:moveTo>
                <a:lnTo>
                  <a:pt x="3983912" y="0"/>
                </a:lnTo>
                <a:lnTo>
                  <a:pt x="3983912" y="1593565"/>
                </a:lnTo>
                <a:lnTo>
                  <a:pt x="0" y="15935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7"/>
          <p:cNvSpPr/>
          <p:nvPr/>
        </p:nvSpPr>
        <p:spPr>
          <a:xfrm rot="19974000">
            <a:off x="6958080" y="-3098400"/>
            <a:ext cx="6575520" cy="5370720"/>
          </a:xfrm>
          <a:custGeom>
            <a:avLst/>
            <a:gdLst/>
            <a:ahLst/>
            <a:cxnLst/>
            <a:rect l="l" t="t" r="r" b="b"/>
            <a:pathLst>
              <a:path w="9495369" h="7717145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alphaModFix amt="50000"/>
            </a:blip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409679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74" indent="-227994" algn="l" defTabSz="1219170" rtl="0" eaLnBrk="1" latinLnBrk="0" hangingPunct="1">
        <a:lnSpc>
          <a:spcPct val="90000"/>
        </a:lnSpc>
        <a:spcBef>
          <a:spcPts val="1001"/>
        </a:spcBef>
        <a:buClr>
          <a:srgbClr val="000000"/>
        </a:buClr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66A48D-163B-A54A-E70E-AF9BF3D7CCD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60400" y="2906060"/>
            <a:ext cx="10515360" cy="1325280"/>
          </a:xfrm>
        </p:spPr>
        <p:txBody>
          <a:bodyPr/>
          <a:lstStyle/>
          <a:p>
            <a:pPr algn="ctr"/>
            <a:b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Разработка серверной части приложений </a:t>
            </a:r>
            <a:r>
              <a:rPr lang="ru-RU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PostgreSQL</a:t>
            </a: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16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6 BT" panose="02040804060705020204" pitchFamily="18" charset="0"/>
                <a:cs typeface="Segoe UI Light" panose="020B0502040204020203" pitchFamily="34" charset="0"/>
              </a:rPr>
              <a:t>(dev-1)</a:t>
            </a:r>
          </a:p>
        </p:txBody>
      </p:sp>
      <p:pic>
        <p:nvPicPr>
          <p:cNvPr id="1026" name="Picture 2" descr="https://avatars.mds.yandex.net/i?id=6d149088086246972def0787c29b2c99ca2e0b99-4903276-images-thumbs&amp;n=13">
            <a:extLst>
              <a:ext uri="{FF2B5EF4-FFF2-40B4-BE49-F238E27FC236}">
                <a16:creationId xmlns:a16="http://schemas.microsoft.com/office/drawing/2014/main" id="{03698AE0-4B56-44A2-B54C-E0F1338D7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41" y="167340"/>
            <a:ext cx="2217839" cy="210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97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C25FC1-47A8-4AF9-8884-D9710E521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393" y="0"/>
            <a:ext cx="91712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3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798D073-A7E6-401D-A186-0A278D3C5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49416"/>
              </p:ext>
            </p:extLst>
          </p:nvPr>
        </p:nvGraphicFramePr>
        <p:xfrm>
          <a:off x="431322" y="405442"/>
          <a:ext cx="10843405" cy="5840080"/>
        </p:xfrm>
        <a:graphic>
          <a:graphicData uri="http://schemas.openxmlformats.org/drawingml/2006/table">
            <a:tbl>
              <a:tblPr/>
              <a:tblGrid>
                <a:gridCol w="2282822">
                  <a:extLst>
                    <a:ext uri="{9D8B030D-6E8A-4147-A177-3AD203B41FA5}">
                      <a16:colId xmlns:a16="http://schemas.microsoft.com/office/drawing/2014/main" val="3022709829"/>
                    </a:ext>
                  </a:extLst>
                </a:gridCol>
                <a:gridCol w="2687072">
                  <a:extLst>
                    <a:ext uri="{9D8B030D-6E8A-4147-A177-3AD203B41FA5}">
                      <a16:colId xmlns:a16="http://schemas.microsoft.com/office/drawing/2014/main" val="1416270225"/>
                    </a:ext>
                  </a:extLst>
                </a:gridCol>
                <a:gridCol w="1957837">
                  <a:extLst>
                    <a:ext uri="{9D8B030D-6E8A-4147-A177-3AD203B41FA5}">
                      <a16:colId xmlns:a16="http://schemas.microsoft.com/office/drawing/2014/main" val="2664417933"/>
                    </a:ext>
                  </a:extLst>
                </a:gridCol>
                <a:gridCol w="1957837">
                  <a:extLst>
                    <a:ext uri="{9D8B030D-6E8A-4147-A177-3AD203B41FA5}">
                      <a16:colId xmlns:a16="http://schemas.microsoft.com/office/drawing/2014/main" val="1375404829"/>
                    </a:ext>
                  </a:extLst>
                </a:gridCol>
                <a:gridCol w="1957837">
                  <a:extLst>
                    <a:ext uri="{9D8B030D-6E8A-4147-A177-3AD203B41FA5}">
                      <a16:colId xmlns:a16="http://schemas.microsoft.com/office/drawing/2014/main" val="1293904766"/>
                    </a:ext>
                  </a:extLst>
                </a:gridCol>
              </a:tblGrid>
              <a:tr h="50558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Характеристика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Подготовленные операторы 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PREPARE)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Представления 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VIEW)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Процедуры 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PROCEDURE)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Функции 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FUNCTION)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997146"/>
                  </a:ext>
                </a:extLst>
              </a:tr>
              <a:tr h="42132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Назначение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Оптимизация выполнения часто используемых запросов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Виртуальная таблица на основе SELECT-запроса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Выполнение последовательности команд (часто с DML)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Возврат значения(й); могут использоваться в SQL-выражениях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038389"/>
                  </a:ext>
                </a:extLst>
              </a:tr>
              <a:tr h="39323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Хранение в БД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Временные (до конца сессии или DEALLOCATE)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Постоянные (до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DROP VIEW)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Постоянные (до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DROP PROCEDURE)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Постоянные (до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DROP FUNCTION)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1519470"/>
                  </a:ext>
                </a:extLst>
              </a:tr>
              <a:tr h="78646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Параметры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Да (при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EXECUTE)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Нет (но можно использовать материализованные параметризованные view через функции)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39773"/>
                  </a:ext>
                </a:extLst>
              </a:tr>
              <a:tr h="39323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Возврат результата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Нет (выполняет запрос)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Да — набор строк (как таблица)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Нет (но можно использовать INOUT/OUT параметры)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Да — скаляр, таблица, SETOF, RECORD и т.д.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7199416"/>
                  </a:ext>
                </a:extLst>
              </a:tr>
              <a:tr h="55015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Может содержать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DML (INSERT/UPDATE/DELETE)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Нет (только SELECT/INSERT/UPDATE/DELETE как одиночный запрос)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Нет (только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SELECT)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Да (если не помечена как `IMMUTABLE`/`STABLE`)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734792"/>
                  </a:ext>
                </a:extLst>
              </a:tr>
              <a:tr h="58985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Вызов в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SQL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Через `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EXECUTE`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 FROM-части запроса (`SELECT * FROM my_view`)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Через `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CALL procedure_name(...)`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 выражении или FROM (`SELECT func(...)`, `SELECT * FROM func(...)`)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1317994"/>
                  </a:ext>
                </a:extLst>
              </a:tr>
              <a:tr h="58985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Транзакции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Часть текущей транзакции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Часть текущей транзакции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Может управлять транзакциями (BEGIN/COMMIT внутри — с PostgreSQL 11+)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Не может управлять транзакциями напрямую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6205532"/>
                  </a:ext>
                </a:extLst>
              </a:tr>
              <a:tr h="39323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*Производительность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Экономия на повторной компиляции плана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Зависит от сложности запроса; может быть медленным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Оптимизированы для пакетного выполнения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Оптимизированы, особенно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IMMUTABLE/STABLE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2049737"/>
                  </a:ext>
                </a:extLst>
              </a:tr>
              <a:tr h="23406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Языки реализации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SQL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SQL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SQL, PL/pgSQL, PL/Python </a:t>
                      </a: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и др.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SQL, PL/pgSQL, PL/Python </a:t>
                      </a: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и др.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1996155"/>
                  </a:ext>
                </a:extLst>
              </a:tr>
              <a:tr h="39323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Материализация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Нет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Обычный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VIEW — </a:t>
                      </a: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нет;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MATERIALIZED VIEW — </a:t>
                      </a: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Нет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Нет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440468"/>
                  </a:ext>
                </a:extLst>
              </a:tr>
              <a:tr h="58985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Пример использования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`PREPARE q(int) AS SELECT * FROM t WHERE id = $1; EXECUTE q(5);`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`CREATE VIEW active_users AS SELECT * FROM users WHERE active = true;`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`CALL update_user_status(123, 'inactive');`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`SELECT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calculate_discount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(100);`</a:t>
                      </a:r>
                    </a:p>
                  </a:txBody>
                  <a:tcPr marL="7124" marR="7124" marT="71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267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79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28932B-1D57-407B-A7D8-5ECDA4653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92" y="0"/>
            <a:ext cx="91560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588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7593C17-F976-482B-AB40-0CF0CCD10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16" y="0"/>
            <a:ext cx="91379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14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F440E1F-52D1-4760-BFF1-984C8F8C5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68" y="0"/>
            <a:ext cx="9156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18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5A3DBF-0775-47E1-A363-EB55B950E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447" y="0"/>
            <a:ext cx="91171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081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859E5C9-827A-4D59-B786-932BDFE0F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922" y="0"/>
            <a:ext cx="91201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7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97D1CA-1F13-4C36-8B35-0F06B727A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504" y="0"/>
            <a:ext cx="9146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55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B2D8F1A-EF7F-4E17-AC78-30ED17732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474" y="0"/>
            <a:ext cx="9105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639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36611FB-65F7-4EA6-B619-7F77D13A3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498" y="0"/>
            <a:ext cx="91410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3278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2118</TotalTime>
  <Words>364</Words>
  <Application>Microsoft Office PowerPoint</Application>
  <PresentationFormat>Широкоэкранный</PresentationFormat>
  <Paragraphs>62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News706 BT</vt:lpstr>
      <vt:lpstr>Segoe UI Light</vt:lpstr>
      <vt:lpstr>Times New Roman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16</cp:revision>
  <dcterms:created xsi:type="dcterms:W3CDTF">2024-09-11T19:02:22Z</dcterms:created>
  <dcterms:modified xsi:type="dcterms:W3CDTF">2025-12-13T16:08:26Z</dcterms:modified>
</cp:coreProperties>
</file>